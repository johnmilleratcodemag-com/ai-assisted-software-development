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this comprehensive guide on GitHub worktrees! This presentation will teach you how to work with multiple branches simultaneously without the overhead of cloning repositories multiple times.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a game-changer for developers who frequently switch between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We’ll cover practical use cases that will immediately improve your workflow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for introduction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“How many of you have ever wished you could test two branches side-by-side without committing or stashing changes?”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“Today, I’ll show you how worktrees solve this exact problem elegantly…”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 worktrees allow you to have multiple working directories attached to the same repository. This means you can have different branches checked out in different folders simultaneously.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the efficiency gain - no need for multiple repository clones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that all worktrees share the same .git database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command comparison to highlight simplicity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Examples to mention: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Working on a feature while keeping main ready for hotfixes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Comparing implementations across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Running tests on one branch while developing on another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why this is so powerful for development workflows…”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addresses the fundamental “why” that will resonate with your audience’s daily frustrations.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scenarios to emphasize: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Parallel Development:</a:t>
            </a:r>
            <a:r>
              <a:rPr/>
              <a:t> You’re working on feature A, but urgent bug fix needed on main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Context Switching:</a:t>
            </a:r>
            <a:r>
              <a:rPr/>
              <a:t> No more losing your place when switching branches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Testing:</a:t>
            </a:r>
            <a:r>
              <a:rPr/>
              <a:t> Run tests on feature branch while continuing development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Code Review:</a:t>
            </a:r>
            <a:r>
              <a:rPr/>
              <a:t> Check out PR locally while keeping your work intact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Interactive element:</a:t>
            </a:r>
            <a:r>
              <a:rPr/>
              <a:t> Ask the audience, “Which of these scenarios happens to you most often?”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Personal anecdotes work well here</a:t>
            </a:r>
            <a:r>
              <a:rPr/>
              <a:t> - share a specific situation where worktrees would have saved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how easy it is to get started with the essential commands…”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commands your audience will use 90% of the time. Focus on practical usage patterns.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Demo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</a:t>
            </a:r>
            <a:r>
              <a:rPr>
                <a:latin typeface="Courier"/>
              </a:rPr>
              <a:t>git worktree add</a:t>
            </a:r>
            <a:r>
              <a:rPr/>
              <a:t> in action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</a:t>
            </a:r>
            <a:r>
              <a:rPr>
                <a:latin typeface="Courier"/>
              </a:rPr>
              <a:t>git worktree list</a:t>
            </a:r>
            <a:r>
              <a:rPr/>
              <a:t> output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directory structure that gets created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path convention (typically using </a:t>
            </a:r>
            <a:r>
              <a:rPr>
                <a:latin typeface="Courier"/>
              </a:rPr>
              <a:t>../</a:t>
            </a:r>
            <a:r>
              <a:rPr/>
              <a:t> for parallel directories)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both creating new branches and using existing 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the branch name and directory name can be different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mistakes to address: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create worktrees inside the main repository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absolute or relative paths consistently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 with live demonstration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see these commands in action with a real workflow example…”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“aha moment” slide where the value becomes crystal clear through a concrete example.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Storytelling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up a relatable scenario (feature work interrupted by urgent bug)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through each command with explanation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Highlight the key benefit at the end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If doing live demo:</a:t>
            </a:r>
          </a:p>
          <a:p>
            <a:pPr lvl="0" indent="0" marL="0">
              <a:buNone/>
            </a:pPr>
          </a:p>
          <a:p>
            <a:pPr lvl="0"/>
            <a:r>
              <a:rPr/>
              <a:t>Prepare the initial state beforehand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file contents remaining unchanged when switching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that both directories are fully functional Git repositories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points to emphasize:</a:t>
            </a:r>
          </a:p>
          <a:p>
            <a:pPr lvl="0" indent="0" marL="0">
              <a:buNone/>
            </a:pPr>
          </a:p>
          <a:p>
            <a:pPr lvl="0"/>
            <a:r>
              <a:rPr/>
              <a:t>No stashing or committing unfinished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No losing your place or mental context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Git functionality in each worktree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interaction:</a:t>
            </a:r>
            <a:r>
              <a:rPr/>
              <a:t> “How would you typically handle this situation without worktrees?”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6-7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“This workflow can be optimized even further with some best practices…”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prevent common pitfalls and make worktrees a smooth part of daily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Directory organization rationale:</a:t>
            </a:r>
          </a:p>
          <a:p>
            <a:pPr lvl="0" indent="0" marL="0">
              <a:buNone/>
            </a:pPr>
          </a:p>
          <a:p>
            <a:pPr lvl="0"/>
            <a:r>
              <a:rPr/>
              <a:t>Keeping worktrees at same level makes navigation easier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Prevents nested worktree confusion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it easy to see all active work at a glance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Naming convention 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Quick recognition of what each worktree is for</a:t>
            </a:r>
          </a:p>
          <a:p>
            <a:pPr lvl="0" indent="0" marL="0">
              <a:buNone/>
            </a:pPr>
          </a:p>
          <a:p>
            <a:pPr lvl="0"/>
            <a:r>
              <a:rPr/>
              <a:t>Easier navigation in terminal/file explorer</a:t>
            </a:r>
          </a:p>
          <a:p>
            <a:pPr lvl="0" indent="0" marL="0">
              <a:buNone/>
            </a:pPr>
          </a:p>
          <a:p>
            <a:pPr lvl="0"/>
            <a:r>
              <a:rPr/>
              <a:t>Better organization when you have many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Shell alias examples to mention: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gwa=</a:t>
            </a:r>
            <a:r>
              <a:rPr>
                <a:solidFill>
                  <a:srgbClr val="4070A0"/>
                </a:solidFill>
                <a:latin typeface="Courier"/>
              </a:rPr>
              <a:t>'git worktree add'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gwl=</a:t>
            </a:r>
            <a:r>
              <a:rPr>
                <a:solidFill>
                  <a:srgbClr val="4070A0"/>
                </a:solidFill>
                <a:latin typeface="Courier"/>
              </a:rPr>
              <a:t>'git worktree list'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gwr=</a:t>
            </a:r>
            <a:r>
              <a:rPr>
                <a:solidFill>
                  <a:srgbClr val="4070A0"/>
                </a:solidFill>
                <a:latin typeface="Courier"/>
              </a:rPr>
              <a:t>'git worktree remove'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IDE integration tips: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IDEs can have different project configurations per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VS Code workspaces work great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can have its own extensions/settings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some specific use cases where worktrees really shine…”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provides specific, actionable use cases that developers can immediately apply.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 case deep-dive: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Code Reviews:</a:t>
            </a:r>
          </a:p>
          <a:p>
            <a:pPr lvl="0" indent="0" marL="0">
              <a:buNone/>
            </a:pPr>
          </a:p>
          <a:p>
            <a:pPr lvl="0"/>
            <a:r>
              <a:rPr/>
              <a:t>Pull down any PR branch for local testing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interrupt your current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run both implementations side-by-side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Experimental Development:</a:t>
            </a:r>
          </a:p>
          <a:p>
            <a:pPr lvl="0" indent="0" marL="0">
              <a:buNone/>
            </a:pPr>
          </a:p>
          <a:p>
            <a:pPr lvl="0"/>
            <a:r>
              <a:rPr/>
              <a:t>Safe space for trying radical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Easy to discard if experiment fails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cherry-pick successful pieces 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Comparison:</a:t>
            </a:r>
          </a:p>
          <a:p>
            <a:pPr lvl="0" indent="0" marL="0">
              <a:buNone/>
            </a:pPr>
          </a:p>
          <a:p>
            <a:pPr lvl="0"/>
            <a:r>
              <a:rPr/>
              <a:t>Run benchmarks on different implementations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A/B testing with real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Visual comparison of outputs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Multiple Releases:</a:t>
            </a:r>
          </a:p>
          <a:p>
            <a:pPr lvl="0" indent="0" marL="0">
              <a:buNone/>
            </a:pPr>
          </a:p>
          <a:p>
            <a:pPr lvl="0"/>
            <a:r>
              <a:rPr/>
              <a:t>Support multiple product versions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Backport fixes to older releases</a:t>
            </a:r>
          </a:p>
          <a:p>
            <a:pPr lvl="0" indent="0" marL="0">
              <a:buNone/>
            </a:pPr>
          </a:p>
          <a:p>
            <a:pPr lvl="0"/>
            <a:r>
              <a:rPr/>
              <a:t>Different deployment pipelines per version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“Which of these scenarios would be most valuable in your current projects?”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do a quick hands-on exercise to cement these concepts…”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practice is crucial for retention. This exercise covers the basic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Facilitation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5 minutes to work through this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around and help individuals if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people to raise hands when they complete each step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issues to watch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People trying to create worktrees inside the current repo</a:t>
            </a:r>
          </a:p>
          <a:p>
            <a:pPr lvl="0" indent="0" marL="0">
              <a:buNone/>
            </a:pPr>
          </a:p>
          <a:p>
            <a:pPr lvl="0"/>
            <a:r>
              <a:rPr/>
              <a:t>Forgetting to navigate to the new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understanding that each directory is independent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Extension exercise for fast finishers:</a:t>
            </a:r>
          </a:p>
          <a:p>
            <a:pPr lvl="0" indent="0" marL="0">
              <a:buNone/>
            </a:pPr>
          </a:p>
          <a:p>
            <a:pPr lvl="0"/>
            <a:r>
              <a:rPr/>
              <a:t>Switch between the directories and observe file differences</a:t>
            </a:r>
          </a:p>
          <a:p>
            <a:pPr lvl="0" indent="0" marL="0">
              <a:buNone/>
            </a:pPr>
          </a:p>
          <a:p>
            <a:pPr lvl="0"/>
            <a:r>
              <a:rPr/>
              <a:t>Try making conflicting changes in both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Experiment with </a:t>
            </a:r>
            <a:r>
              <a:rPr>
                <a:latin typeface="Courier"/>
              </a:rPr>
              <a:t>git worktree remove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 questions: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surprised you about this exercise?”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 you think this will change your workflow?”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challenges or questions came up?”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5-7 minutes (including debrief)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troubleshoot some common issues you might encounter…”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information helps prevent frustration and builds confidence.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troubleshooting mindset: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worktree issues are about references, not the Git objects themselves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list</a:t>
            </a:r>
            <a:r>
              <a:rPr/>
              <a:t> is your diagnostic tool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prune</a:t>
            </a:r>
            <a:r>
              <a:rPr/>
              <a:t> fixes most cleanup issues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Detailed explanations: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Branch Already Checked Out: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prevents the same branch in multiple worktrees (prevents conflicts)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check </a:t>
            </a:r>
            <a:r>
              <a:rPr>
                <a:latin typeface="Courier"/>
              </a:rPr>
              <a:t>git worktree list</a:t>
            </a:r>
            <a:r>
              <a:rPr/>
              <a:t> first</a:t>
            </a:r>
          </a:p>
          <a:p>
            <a:pPr lvl="0" indent="0" marL="0">
              <a:buNone/>
            </a:pPr>
          </a:p>
          <a:p>
            <a:pPr lvl="0"/>
            <a:r>
              <a:rPr/>
              <a:t>Alternative: create new branch from existing one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Orphaned References: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Happens when you manually delete worktree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still thinks the worktree exists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prune</a:t>
            </a:r>
            <a:r>
              <a:rPr/>
              <a:t> command cleans up these stale references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considerations: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uses disk space (working directory)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many can slow down some Git operations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Regular cleanup is good practice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wrap up with key takeaways and next steps…”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concluding slide reinforces key benefits and provides clear next steps for immediate action.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Delivery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Recap the main value propositions from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concrete, actionable first steps</a:t>
            </a:r>
          </a:p>
          <a:p>
            <a:pPr lvl="0" indent="0" marL="0">
              <a:buNone/>
            </a:pPr>
          </a:p>
          <a:p>
            <a:pPr lvl="0"/>
            <a:r>
              <a:rPr/>
              <a:t>End with motivation for continued learning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Reinforcement strategy: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Connect back to pain points mentioned at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this is learnable and immediately beneficial</a:t>
            </a:r>
          </a:p>
          <a:p>
            <a:pPr lvl="0" indent="0" marL="0">
              <a:buNone/>
            </a:pPr>
          </a:p>
          <a:p>
            <a:pPr lvl="0"/>
            <a:r>
              <a:rPr/>
              <a:t>Address that it’s a gradual adoption, not all-or-nothing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Call to action: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Encourage people to try worktrees on their very next branch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they teach someone else (best way to solidify learning)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Invite questions and sharing of experiences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suggestions: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links to documentation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your contact info for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internal team adoption strategies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Questions and discussion:</a:t>
            </a:r>
            <a:r>
              <a:rPr/>
              <a:t> Reserve 5-10 minutes for Q&amp;A and sharing experiences.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Closing note:</a:t>
            </a:r>
            <a:r>
              <a:rPr/>
              <a:t> “Worktrees might seem like a small feature, but they represent a fundamental shift toward more efficient, context-preserving development workflows.”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slide for resources and Q&amp;A session.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Resource explanations: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Direct people to official documentation for deeper learning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Mention specific tools that integrate well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your contact for follow-up questions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Q&amp;A facilitation: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Open the floor for any questions about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for specific use cases people want to discuss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experiences from other teams who adopted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 to be prepared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work with IDEs?”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about large repositories?”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“Can this work with Git LFS?”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affect CI/CD?”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5-10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actions: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 recording answers to common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Offer to help with initial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Plan follow-up sessions for advanced topics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End on a positive note:</a:t>
            </a:r>
            <a:r>
              <a:rPr/>
              <a:t> “You now have a powerful new tool for more efficient Git workflows. Start small, practice regularly, and you’ll wonder how you worked without worktrees!”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https://git-scm.com/docs/git-worktree" TargetMode="External" /><Relationship Id="rId4" Type="http://schemas.openxmlformats.org/officeDocument/2006/relationships/hyperlink" Target="https://git-scm.com/boo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Worktrees Mastery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Parallel Development Made Simple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Git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working directories from the same repository</a:t>
            </a:r>
          </a:p>
          <a:p>
            <a:pPr lvl="0"/>
            <a:r>
              <a:rPr/>
              <a:t>🌳 </a:t>
            </a:r>
            <a:r>
              <a:rPr b="1"/>
              <a:t>One repository, many checkouts</a:t>
            </a:r>
          </a:p>
          <a:p>
            <a:pPr lvl="0"/>
            <a:r>
              <a:rPr/>
              <a:t>📂 </a:t>
            </a:r>
            <a:r>
              <a:rPr b="1"/>
              <a:t>Separate directories</a:t>
            </a:r>
            <a:r>
              <a:rPr/>
              <a:t> for different branches</a:t>
            </a:r>
          </a:p>
          <a:p>
            <a:pPr lvl="0"/>
            <a:r>
              <a:rPr/>
              <a:t>⚡ </a:t>
            </a:r>
            <a:r>
              <a:rPr b="1"/>
              <a:t>No cloning overhead</a:t>
            </a:r>
            <a:r>
              <a:rPr/>
              <a:t> - shared object database</a:t>
            </a:r>
          </a:p>
          <a:p>
            <a:pPr lvl="0"/>
            <a:r>
              <a:rPr/>
              <a:t>🔄 </a:t>
            </a:r>
            <a:r>
              <a:rPr b="1"/>
              <a:t>Independent working states</a:t>
            </a:r>
            <a:r>
              <a:rPr/>
              <a:t> per branch</a:t>
            </a:r>
          </a:p>
          <a:p>
            <a:pPr lvl="0"/>
            <a:r>
              <a:rPr/>
              <a:t>💾 </a:t>
            </a:r>
            <a:r>
              <a:rPr b="1"/>
              <a:t>Shared Git metadata</a:t>
            </a:r>
            <a:r>
              <a:rPr/>
              <a:t> (.git directory)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Traditional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repo.git feature-branch-copy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feature-branch-copy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feature-branch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Worktree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../feature-branch feature-branch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Use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Solve Common Development Pain Points</a:t>
            </a:r>
          </a:p>
          <a:p>
            <a:pPr lvl="0" indent="0" marL="0">
              <a:buNone/>
            </a:pPr>
            <a:r>
              <a:rPr b="1"/>
              <a:t>🚀 Parallel Development</a:t>
            </a:r>
          </a:p>
          <a:p>
            <a:pPr lvl="0"/>
            <a:r>
              <a:rPr/>
              <a:t>Work on multiple features simultaneously</a:t>
            </a:r>
          </a:p>
          <a:p>
            <a:pPr lvl="0"/>
            <a:r>
              <a:rPr/>
              <a:t>Compare implementations side-by-side</a:t>
            </a:r>
          </a:p>
          <a:p>
            <a:pPr lvl="0"/>
            <a:r>
              <a:rPr/>
              <a:t>Test different approaches without switching</a:t>
            </a:r>
          </a:p>
          <a:p>
            <a:pPr lvl="0" indent="0" marL="0">
              <a:buNone/>
            </a:pPr>
            <a:r>
              <a:rPr b="1"/>
              <a:t>⚡ Context Switching</a:t>
            </a:r>
          </a:p>
          <a:p>
            <a:pPr lvl="0"/>
            <a:r>
              <a:rPr/>
              <a:t>No more </a:t>
            </a:r>
            <a:r>
              <a:rPr>
                <a:latin typeface="Courier"/>
              </a:rPr>
              <a:t>git stash</a:t>
            </a:r>
            <a:r>
              <a:rPr/>
              <a:t> and </a:t>
            </a:r>
            <a:r>
              <a:rPr>
                <a:latin typeface="Courier"/>
              </a:rPr>
              <a:t>git checkout</a:t>
            </a:r>
            <a:r>
              <a:rPr/>
              <a:t> dance</a:t>
            </a:r>
          </a:p>
          <a:p>
            <a:pPr lvl="0"/>
            <a:r>
              <a:rPr/>
              <a:t>Keep development environment intact</a:t>
            </a:r>
          </a:p>
          <a:p>
            <a:pPr lvl="0"/>
            <a:r>
              <a:rPr/>
              <a:t>Maintain running processes (servers, debuggers)</a:t>
            </a:r>
          </a:p>
          <a:p>
            <a:pPr lvl="0" indent="0" marL="0">
              <a:buNone/>
            </a:pPr>
            <a:r>
              <a:rPr b="1"/>
              <a:t>🔧 Testing &amp; CI</a:t>
            </a:r>
          </a:p>
          <a:p>
            <a:pPr lvl="0"/>
            <a:r>
              <a:rPr/>
              <a:t>Run tests on different branches simultaneously</a:t>
            </a:r>
          </a:p>
          <a:p>
            <a:pPr lvl="0"/>
            <a:r>
              <a:rPr/>
              <a:t>Local integration testing</a:t>
            </a:r>
          </a:p>
          <a:p>
            <a:pPr lvl="0"/>
            <a:r>
              <a:rPr/>
              <a:t>Branch comparison and validation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Essential Worktree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Operations You’ll Use Daily</a:t>
            </a:r>
          </a:p>
          <a:p>
            <a:pPr lvl="0" indent="0" marL="0">
              <a:buNone/>
            </a:pPr>
            <a:r>
              <a:rPr b="1"/>
              <a:t>Creating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new branch and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../feature-login 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Use existing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../bugfix-auth origin/bugfix-auth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Specify different branch name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</a:p>
          <a:p>
            <a:pPr lvl="0" indent="0" marL="0">
              <a:buNone/>
            </a:pPr>
            <a:r>
              <a:rPr b="1"/>
              <a:t>Managing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List all worktrees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Remove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Cleanup stale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Development Scenario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Current situation: Working on feature-auth 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my-project/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status  </a:t>
            </a:r>
            <a:r>
              <a:rPr i="1">
                <a:solidFill>
                  <a:srgbClr val="60A0B0"/>
                </a:solidFill>
                <a:latin typeface="Courier"/>
              </a:rPr>
              <a:t># Shows changes in progress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Urgent: Bug report needs 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Fix the bug, test, commit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"Fix: Security vulnerability in auth"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PR, continue original work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../my-project/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Your feature-auth work is exactly as you left it!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Two active development streams, zero context loss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&amp; Directory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 Yourself Up for Success</a:t>
            </a:r>
          </a:p>
          <a:p>
            <a:pPr lvl="0" indent="0" marL="0">
              <a:buNone/>
            </a:pPr>
            <a:r>
              <a:rPr b="1"/>
              <a:t>📁 Directory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my-projects/
├── main-repo/           # Main worktree
├── feature-auth/        # Feature worktree
├── hotfix-security/     # Hotfix worktree
└── experimental/        # Experimental worktree</a:t>
            </a:r>
          </a:p>
          <a:p>
            <a:pPr lvl="0" indent="0" marL="0">
              <a:buNone/>
            </a:pPr>
            <a:r>
              <a:rPr b="1"/>
              <a:t>🎯 Naming Conventions:</a:t>
            </a:r>
          </a:p>
          <a:p>
            <a:pPr lvl="0"/>
            <a:r>
              <a:rPr/>
              <a:t>Use descriptive directory names</a:t>
            </a:r>
          </a:p>
          <a:p>
            <a:pPr lvl="0"/>
            <a:r>
              <a:rPr/>
              <a:t>Match directory name to branch purpose</a:t>
            </a:r>
          </a:p>
          <a:p>
            <a:pPr lvl="0"/>
            <a:r>
              <a:rPr/>
              <a:t>Consider team conventions</a:t>
            </a:r>
          </a:p>
          <a:p>
            <a:pPr lvl="0" indent="0" marL="0">
              <a:buNone/>
            </a:pPr>
            <a:r>
              <a:rPr b="1"/>
              <a:t>⚡ Pro Tips:</a:t>
            </a:r>
          </a:p>
          <a:p>
            <a:pPr lvl="0"/>
            <a:r>
              <a:rPr/>
              <a:t>Keep worktrees at the same directory level</a:t>
            </a:r>
          </a:p>
          <a:p>
            <a:pPr lvl="0"/>
            <a:r>
              <a:rPr/>
              <a:t>Use shell aliases for common operations</a:t>
            </a:r>
          </a:p>
          <a:p>
            <a:pPr lvl="0"/>
            <a:r>
              <a:rPr/>
              <a:t>Set up IDE workspace configurations per worktree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Worktrees Shine Brightest</a:t>
            </a:r>
          </a:p>
          <a:p>
            <a:pPr lvl="0" indent="0" marL="0">
              <a:buNone/>
            </a:pPr>
            <a:r>
              <a:rPr b="1"/>
              <a:t>🔄 Code Reviews &amp; Testing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out PR for review while keeping your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../review-pr-123 origin/pull/123/head</a:t>
            </a:r>
          </a:p>
          <a:p>
            <a:pPr lvl="0" indent="0" marL="0">
              <a:buNone/>
            </a:pPr>
            <a:r>
              <a:rPr b="1"/>
              <a:t>🚧 Experimental Development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Try risky refactoring without affecting main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../experiment-refactor main</a:t>
            </a:r>
          </a:p>
          <a:p>
            <a:pPr lvl="0" indent="0" marL="0">
              <a:buNone/>
            </a:pPr>
            <a:r>
              <a:rPr b="1"/>
              <a:t>📊 Performance Comparison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Compare performance between implementations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../baseline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../optimized feature-optimization</a:t>
            </a:r>
          </a:p>
          <a:p>
            <a:pPr lvl="0" indent="0" marL="0">
              <a:buNone/>
            </a:pPr>
            <a:r>
              <a:rPr b="1"/>
              <a:t>🏗️ Multiple Release Preparations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Support multiple versions simultaneously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../v2-release release/v2.0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../v3-dev develop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Try It Yourself (5 minutes)</a:t>
            </a:r>
          </a:p>
          <a:p>
            <a:pPr lvl="0" indent="0" marL="0">
              <a:buNone/>
            </a:pPr>
            <a:r>
              <a:rPr b="1"/>
              <a:t>🎯 Goal:</a:t>
            </a:r>
            <a:r>
              <a:rPr/>
              <a:t> Create and manage multiple worktrees</a:t>
            </a:r>
          </a:p>
          <a:p>
            <a:pPr lvl="0" indent="0" marL="0">
              <a:buNone/>
            </a:pPr>
            <a:r>
              <a:rPr b="1"/>
              <a:t>Step 1:</a:t>
            </a:r>
            <a:r>
              <a:rPr/>
              <a:t> Create feature worktree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../my-feature feature-branch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../my-feature</a:t>
            </a:r>
          </a:p>
          <a:p>
            <a:pPr lvl="0" indent="0" marL="0">
              <a:buNone/>
            </a:pPr>
            <a:r>
              <a:rPr b="1"/>
              <a:t>Step 2:</a:t>
            </a:r>
            <a:r>
              <a:rPr/>
              <a:t> Make some changes and commit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"Feature work"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feature.txt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"Add feature work"</a:t>
            </a:r>
          </a:p>
          <a:p>
            <a:pPr lvl="0" indent="0" marL="0">
              <a:buNone/>
            </a:pPr>
            <a:r>
              <a:rPr b="1"/>
              <a:t>Step 3:</a:t>
            </a:r>
            <a:r>
              <a:rPr/>
              <a:t> Create review worktree without leaving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../code-review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../code-review</a:t>
            </a:r>
          </a:p>
          <a:p>
            <a:pPr lvl="0" indent="0" marL="0">
              <a:buNone/>
            </a:pPr>
            <a:r>
              <a:rPr b="1"/>
              <a:t>Step 4:</a:t>
            </a:r>
            <a:r>
              <a:rPr/>
              <a:t> See all your worktrees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Issues and Solutions</a:t>
            </a:r>
          </a:p>
          <a:p>
            <a:pPr lvl="0" indent="0" marL="0">
              <a:buNone/>
            </a:pPr>
            <a:r>
              <a:rPr b="1"/>
              <a:t>❌ “Branch is already checked out”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Branch exists in another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Find where it's checked out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Remove old worktree or use different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../old-location</a:t>
            </a:r>
          </a:p>
          <a:p>
            <a:pPr lvl="0" indent="0" marL="0">
              <a:buNone/>
            </a:pPr>
            <a:r>
              <a:rPr b="1"/>
              <a:t>❌ Orphaned worktree references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Manually deleted worktree directory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Shows [missing] worktrees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Clean up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  <a:p>
            <a:pPr lvl="0" indent="0" marL="0">
              <a:buNone/>
            </a:pPr>
            <a:r>
              <a:rPr b="1"/>
              <a:t>💡 Performance Tips:</a:t>
            </a:r>
          </a:p>
          <a:p>
            <a:pPr lvl="0"/>
            <a:r>
              <a:rPr/>
              <a:t>Don’t create too many worktrees (&lt; 10 typically)</a:t>
            </a:r>
          </a:p>
          <a:p>
            <a:pPr lvl="0"/>
            <a:r>
              <a:rPr/>
              <a:t>Clean up unused worktrees regularly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git worktree prune</a:t>
            </a:r>
            <a:r>
              <a:rPr/>
              <a:t> in maintenance scripts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Transform Your Git Workflow Today</a:t>
            </a:r>
          </a:p>
          <a:p>
            <a:pPr lvl="0" indent="0" marL="0">
              <a:buNone/>
            </a:pPr>
            <a:r>
              <a:rPr b="1"/>
              <a:t>🎯 Core Benefits:</a:t>
            </a:r>
          </a:p>
          <a:p>
            <a:pPr lvl="0"/>
            <a:r>
              <a:rPr/>
              <a:t>✅ Parallel development without cloning</a:t>
            </a:r>
          </a:p>
          <a:p>
            <a:pPr lvl="0"/>
            <a:r>
              <a:rPr/>
              <a:t>✅ Zero context switching overhead</a:t>
            </a:r>
          </a:p>
          <a:p>
            <a:pPr lvl="0"/>
            <a:r>
              <a:rPr/>
              <a:t>✅ Safe experimentation and comparison</a:t>
            </a:r>
          </a:p>
          <a:p>
            <a:pPr lvl="0"/>
            <a:r>
              <a:rPr/>
              <a:t>✅ Improved code review workflow</a:t>
            </a:r>
          </a:p>
          <a:p>
            <a:pPr lvl="0" indent="0" marL="0">
              <a:buNone/>
            </a:pPr>
            <a:r>
              <a:rPr b="1"/>
              <a:t>🚀 Start Small:</a:t>
            </a:r>
          </a:p>
          <a:p>
            <a:pPr lvl="0" indent="-342900" marL="342900">
              <a:buAutoNum type="arabicPeriod"/>
            </a:pPr>
            <a:r>
              <a:rPr/>
              <a:t>Try one worktree for your next feature branch</a:t>
            </a:r>
          </a:p>
          <a:p>
            <a:pPr lvl="0" indent="-342900" marL="342900">
              <a:buAutoNum type="arabicPeriod"/>
            </a:pPr>
            <a:r>
              <a:rPr/>
              <a:t>Use for urgent hotfixes when you have uncommitted work</a:t>
            </a:r>
          </a:p>
          <a:p>
            <a:pPr lvl="0" indent="-342900" marL="342900">
              <a:buAutoNum type="arabicPeriod"/>
            </a:pPr>
            <a:r>
              <a:rPr/>
              <a:t>Gradually incorporate into regular workflow</a:t>
            </a:r>
          </a:p>
          <a:p>
            <a:pPr lvl="0" indent="0" marL="0">
              <a:buNone/>
            </a:pPr>
            <a:r>
              <a:rPr b="1"/>
              <a:t>📚 Next Steps:</a:t>
            </a:r>
          </a:p>
          <a:p>
            <a:pPr lvl="0"/>
            <a:r>
              <a:rPr/>
              <a:t>Practice with your current project</a:t>
            </a:r>
          </a:p>
          <a:p>
            <a:pPr lvl="0"/>
            <a:r>
              <a:rPr/>
              <a:t>Set up shell aliases for common commands</a:t>
            </a:r>
          </a:p>
          <a:p>
            <a:pPr lvl="0"/>
            <a:r>
              <a:rPr/>
              <a:t>Configure your IDE for multi-worktree workflows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Continue Your Learning Journey</a:t>
            </a:r>
          </a:p>
          <a:p>
            <a:pPr lvl="0" indent="0" marL="0">
              <a:buNone/>
            </a:pPr>
            <a:r>
              <a:rPr b="1"/>
              <a:t>📖 Official Documentation:</a:t>
            </a:r>
          </a:p>
          <a:p>
            <a:pPr lvl="0"/>
            <a:r>
              <a:rPr>
                <a:hlinkClick r:id="rId3"/>
              </a:rPr>
              <a:t>Git Worktree Manual</a:t>
            </a:r>
          </a:p>
          <a:p>
            <a:pPr lvl="0"/>
            <a:r>
              <a:rPr>
                <a:hlinkClick r:id="rId4"/>
              </a:rPr>
              <a:t>Pro Git Book Chapter</a:t>
            </a:r>
          </a:p>
          <a:p>
            <a:pPr lvl="0" indent="0" marL="0">
              <a:buNone/>
            </a:pPr>
            <a:r>
              <a:rPr b="1"/>
              <a:t>🛠️ Tools &amp; Integration:</a:t>
            </a:r>
          </a:p>
          <a:p>
            <a:pPr lvl="0"/>
            <a:r>
              <a:rPr/>
              <a:t>VS Code Multi-root Workspaces</a:t>
            </a:r>
          </a:p>
          <a:p>
            <a:pPr lvl="0"/>
            <a:r>
              <a:rPr/>
              <a:t>Shell aliases and scripts</a:t>
            </a:r>
          </a:p>
          <a:p>
            <a:pPr lvl="0"/>
            <a:r>
              <a:rPr/>
              <a:t>Team workflow templates</a:t>
            </a:r>
          </a:p>
          <a:p>
            <a:pPr lvl="0" indent="0" marL="0">
              <a:buNone/>
            </a:pPr>
            <a:r>
              <a:rPr b="1"/>
              <a:t>💬 Questions &amp; Discussion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[Your contact information]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2026-02-06T22:09:01Z</dcterms:created>
  <dcterms:modified xsi:type="dcterms:W3CDTF">2026-02-06T22:09:01Z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ai-logs/2026/02/06/github-worktrees-slides-20260206/conversation.md</vt:lpwstr>
  </property>
  <property fmtid="{D5CDD505-2E9C-101B-9397-08002B2CF9AE}" pid="4" name="chat_id">
    <vt:lpwstr>github-worktrees-slides-20260206</vt:lpwstr>
  </property>
  <property fmtid="{D5CDD505-2E9C-101B-9397-08002B2CF9AE}" pid="5" name="ended">
    <vt:lpwstr>2026-02-06T19:10:00Z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a marp slide deck how to use github worktrees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2026-02-06T18:50:00Z</vt:lpwstr>
  </property>
  <property fmtid="{D5CDD505-2E9C-101B-9397-08002B2CF9AE}" pid="11" name="task_durations">
    <vt:lpwstr/>
  </property>
  <property fmtid="{D5CDD505-2E9C-101B-9397-08002B2CF9AE}" pid="12" name="title-slide-attributes">
    <vt:lpwstr/>
  </property>
  <property fmtid="{D5CDD505-2E9C-101B-9397-08002B2CF9AE}" pid="13" name="total_duration">
    <vt:lpwstr>00:20:00</vt:lpwstr>
  </property>
</Properties>
</file>