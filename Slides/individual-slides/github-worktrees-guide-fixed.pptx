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notesMaster" Target="notesMasters/notesMaster1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this comprehensive guide on GitHub worktrees! This presentation will teach you how to work with multiple branches simultaneously without the overhead of cloning repositories multiple times.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Key delivery points:</a:t>
            </a:r>
          </a:p>
          <a:p>
            <a:pPr lvl="0" indent="0" marL="0">
              <a:buNone/>
            </a:pPr>
          </a:p>
          <a:p>
            <a:pPr lvl="0"/>
            <a:r>
              <a:rPr/>
              <a:t>This is a game-changer for developers who frequently switch between branches</a:t>
            </a:r>
          </a:p>
          <a:p>
            <a:pPr lvl="0" indent="0" marL="0">
              <a:buNone/>
            </a:pPr>
          </a:p>
          <a:p>
            <a:pPr lvl="0"/>
            <a:r>
              <a:rPr/>
              <a:t>We’ll cover practical use cases that will immediately improve your workflow</a:t>
            </a:r>
          </a:p>
          <a:p>
            <a:pPr lvl="0" indent="0" marL="0">
              <a:buNone/>
            </a:pPr>
          </a:p>
          <a:p>
            <a:pPr lvl="0"/>
            <a:r>
              <a:rPr/>
              <a:t>Time allocation: 2-3 minutes for introduction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Audience engagement:</a:t>
            </a:r>
            <a:r>
              <a:rPr/>
              <a:t> “How many of you have ever wished you could test two branches side-by-side without committing or stashing changes?”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“Today, I’ll show you how worktrees solve this exact problem elegantly…”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Git worktrees allow you to have multiple working directories attached to the same repository. This means you can have different branches checked out in different folders simultaneously.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Key teaching points:</a:t>
            </a:r>
          </a:p>
          <a:p>
            <a:pPr lvl="0" indent="0" marL="0">
              <a:buNone/>
            </a:pPr>
          </a:p>
          <a:p>
            <a:pPr lvl="0"/>
            <a:r>
              <a:rPr/>
              <a:t>Emphasize the efficiency gain - no need for multiple repository clones</a:t>
            </a:r>
          </a:p>
          <a:p>
            <a:pPr lvl="0" indent="0" marL="0">
              <a:buNone/>
            </a:pPr>
          </a:p>
          <a:p>
            <a:pPr lvl="0"/>
            <a:r>
              <a:rPr/>
              <a:t>Explain that all worktrees share the same .git database</a:t>
            </a:r>
          </a:p>
          <a:p>
            <a:pPr lvl="0" indent="0" marL="0">
              <a:buNone/>
            </a:pPr>
          </a:p>
          <a:p>
            <a:pPr lvl="0"/>
            <a:r>
              <a:rPr/>
              <a:t>Show the command comparison to highlight simplicity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Examples to mention:</a:t>
            </a:r>
          </a:p>
          <a:p>
            <a:pPr lvl="0" indent="0" marL="0">
              <a:buNone/>
            </a:pPr>
          </a:p>
          <a:p>
            <a:pPr lvl="0"/>
            <a:r>
              <a:rPr/>
              <a:t>Working on a feature while keeping main ready for hotfixes</a:t>
            </a:r>
          </a:p>
          <a:p>
            <a:pPr lvl="0" indent="0" marL="0">
              <a:buNone/>
            </a:pPr>
          </a:p>
          <a:p>
            <a:pPr lvl="0"/>
            <a:r>
              <a:rPr/>
              <a:t>Comparing implementations across branches</a:t>
            </a:r>
          </a:p>
          <a:p>
            <a:pPr lvl="0" indent="0" marL="0">
              <a:buNone/>
            </a:pPr>
          </a:p>
          <a:p>
            <a:pPr lvl="0"/>
            <a:r>
              <a:rPr/>
              <a:t>Running tests on one branch while developing on another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4-5 minutes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“Let’s explore why this is so powerful for development workflows…”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slide addresses the fundamental “why” that will resonate with your audience’s daily frustrations.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Real-world scenarios to emphasize: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 b="1"/>
              <a:t>Parallel Development:</a:t>
            </a:r>
            <a:r>
              <a:rPr/>
              <a:t> You’re working on feature A, but urgent bug fix needed on main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 b="1"/>
              <a:t>Context Switching:</a:t>
            </a:r>
            <a:r>
              <a:rPr/>
              <a:t> No more losing your place when switching branches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 b="1"/>
              <a:t>Testing:</a:t>
            </a:r>
            <a:r>
              <a:rPr/>
              <a:t> Run tests on feature branch while continuing development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 b="1"/>
              <a:t>Code Review:</a:t>
            </a:r>
            <a:r>
              <a:rPr/>
              <a:t> Check out PR locally while keeping your work intact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Interactive element:</a:t>
            </a:r>
            <a:r>
              <a:rPr/>
              <a:t> Ask the audience, “Which of these scenarios happens to you most often?”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3-4 minutes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Personal anecdotes work well here</a:t>
            </a:r>
            <a:r>
              <a:rPr/>
              <a:t> - share a specific situation where worktrees would have saved time.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“Now let’s see how easy it is to get started with the essential commands…”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are the commands your audience will use 90% of the time. Focus on practical usage patterns.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Demo approach:</a:t>
            </a:r>
          </a:p>
          <a:p>
            <a:pPr lvl="0" indent="0" marL="0">
              <a:buNone/>
            </a:pPr>
          </a:p>
          <a:p>
            <a:pPr lvl="0"/>
            <a:r>
              <a:rPr/>
              <a:t>Show </a:t>
            </a:r>
            <a:r>
              <a:rPr>
                <a:latin typeface="Courier"/>
              </a:rPr>
              <a:t>git worktree add</a:t>
            </a:r>
            <a:r>
              <a:rPr/>
              <a:t> in action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Demonstrate </a:t>
            </a:r>
            <a:r>
              <a:rPr>
                <a:latin typeface="Courier"/>
              </a:rPr>
              <a:t>git worktree list</a:t>
            </a:r>
            <a:r>
              <a:rPr/>
              <a:t> output</a:t>
            </a:r>
          </a:p>
          <a:p>
            <a:pPr lvl="0" indent="0" marL="0">
              <a:buNone/>
            </a:pPr>
          </a:p>
          <a:p>
            <a:pPr lvl="0"/>
            <a:r>
              <a:rPr/>
              <a:t>Explain the directory structure that gets created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Key teaching points:</a:t>
            </a:r>
          </a:p>
          <a:p>
            <a:pPr lvl="0" indent="0" marL="0">
              <a:buNone/>
            </a:pPr>
          </a:p>
          <a:p>
            <a:pPr lvl="0"/>
            <a:r>
              <a:rPr/>
              <a:t>Explain the path convention (typically using </a:t>
            </a:r>
            <a:r>
              <a:rPr>
                <a:latin typeface="Courier"/>
              </a:rPr>
              <a:t>../</a:t>
            </a:r>
            <a:r>
              <a:rPr/>
              <a:t> for parallel directories)</a:t>
            </a:r>
          </a:p>
          <a:p>
            <a:pPr lvl="0" indent="0" marL="0">
              <a:buNone/>
            </a:pPr>
          </a:p>
          <a:p>
            <a:pPr lvl="0"/>
            <a:r>
              <a:rPr/>
              <a:t>Show both creating new branches and using existing ones</a:t>
            </a:r>
          </a:p>
          <a:p>
            <a:pPr lvl="0" indent="0" marL="0">
              <a:buNone/>
            </a:pPr>
          </a:p>
          <a:p>
            <a:pPr lvl="0"/>
            <a:r>
              <a:rPr/>
              <a:t>Emphasize that the branch name and directory name can be different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Common mistakes to address:</a:t>
            </a:r>
          </a:p>
          <a:p>
            <a:pPr lvl="0" indent="0" marL="0">
              <a:buNone/>
            </a:pPr>
          </a:p>
          <a:p>
            <a:pPr lvl="0"/>
            <a:r>
              <a:rPr/>
              <a:t>Don’t create worktrees inside the main repository directory</a:t>
            </a:r>
          </a:p>
          <a:p>
            <a:pPr lvl="0" indent="0" marL="0">
              <a:buNone/>
            </a:pPr>
          </a:p>
          <a:p>
            <a:pPr lvl="0"/>
            <a:r>
              <a:rPr/>
              <a:t>Use absolute or relative paths consistently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5-6 minutes with live demonstration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“Let’s see these commands in action with a real workflow example…”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“aha moment” slide where the value becomes crystal clear through a concrete example.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Storytelling approach:</a:t>
            </a:r>
          </a:p>
          <a:p>
            <a:pPr lvl="0" indent="0" marL="0">
              <a:buNone/>
            </a:pPr>
          </a:p>
          <a:p>
            <a:pPr lvl="0"/>
            <a:r>
              <a:rPr/>
              <a:t>Set up a relatable scenario (feature work interrupted by urgent bug)</a:t>
            </a:r>
          </a:p>
          <a:p>
            <a:pPr lvl="0" indent="0" marL="0">
              <a:buNone/>
            </a:pPr>
          </a:p>
          <a:p>
            <a:pPr lvl="0"/>
            <a:r>
              <a:rPr/>
              <a:t>Walk through each command with explanation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Highlight the key benefit at the end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If doing live demo:</a:t>
            </a:r>
          </a:p>
          <a:p>
            <a:pPr lvl="0" indent="0" marL="0">
              <a:buNone/>
            </a:pPr>
          </a:p>
          <a:p>
            <a:pPr lvl="0"/>
            <a:r>
              <a:rPr/>
              <a:t>Prepare the initial state beforehand</a:t>
            </a:r>
          </a:p>
          <a:p>
            <a:pPr lvl="0" indent="0" marL="0">
              <a:buNone/>
            </a:pPr>
          </a:p>
          <a:p>
            <a:pPr lvl="0"/>
            <a:r>
              <a:rPr/>
              <a:t>Show the file contents remaining unchanged when switching directories</a:t>
            </a:r>
          </a:p>
          <a:p>
            <a:pPr lvl="0" indent="0" marL="0">
              <a:buNone/>
            </a:pPr>
          </a:p>
          <a:p>
            <a:pPr lvl="0"/>
            <a:r>
              <a:rPr/>
              <a:t>Demonstrate that both directories are fully functional Git repositories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Key points to emphasize:</a:t>
            </a:r>
          </a:p>
          <a:p>
            <a:pPr lvl="0" indent="0" marL="0">
              <a:buNone/>
            </a:pPr>
          </a:p>
          <a:p>
            <a:pPr lvl="0"/>
            <a:r>
              <a:rPr/>
              <a:t>No stashing or committing unfinished work</a:t>
            </a:r>
          </a:p>
          <a:p>
            <a:pPr lvl="0" indent="0" marL="0">
              <a:buNone/>
            </a:pPr>
          </a:p>
          <a:p>
            <a:pPr lvl="0"/>
            <a:r>
              <a:rPr/>
              <a:t>No losing your place or mental context</a:t>
            </a:r>
          </a:p>
          <a:p>
            <a:pPr lvl="0" indent="0" marL="0">
              <a:buNone/>
            </a:pPr>
          </a:p>
          <a:p>
            <a:pPr lvl="0"/>
            <a:r>
              <a:rPr/>
              <a:t>Full Git functionality in each worktree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Audience interaction:</a:t>
            </a:r>
            <a:r>
              <a:rPr/>
              <a:t> “How would you typically handle this situation without worktrees?”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6-7 minutes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“This workflow can be optimized even further with some best practices…”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practices prevent common pitfalls and make worktrees a smooth part of daily workflow.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Directory organization rationale:</a:t>
            </a:r>
          </a:p>
          <a:p>
            <a:pPr lvl="0" indent="0" marL="0">
              <a:buNone/>
            </a:pPr>
          </a:p>
          <a:p>
            <a:pPr lvl="0"/>
            <a:r>
              <a:rPr/>
              <a:t>Keeping worktrees at same level makes navigation easier</a:t>
            </a:r>
          </a:p>
          <a:p>
            <a:pPr lvl="0" indent="0" marL="0">
              <a:buNone/>
            </a:pPr>
          </a:p>
          <a:p>
            <a:pPr lvl="0"/>
            <a:r>
              <a:rPr/>
              <a:t>Prevents nested worktree confusion</a:t>
            </a:r>
          </a:p>
          <a:p>
            <a:pPr lvl="0" indent="0" marL="0">
              <a:buNone/>
            </a:pPr>
          </a:p>
          <a:p>
            <a:pPr lvl="0"/>
            <a:r>
              <a:rPr/>
              <a:t>Makes it easy to see all active work at a glance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Naming convention benefits:</a:t>
            </a:r>
          </a:p>
          <a:p>
            <a:pPr lvl="0" indent="0" marL="0">
              <a:buNone/>
            </a:pPr>
          </a:p>
          <a:p>
            <a:pPr lvl="0"/>
            <a:r>
              <a:rPr/>
              <a:t>Quick recognition of what each worktree is for</a:t>
            </a:r>
          </a:p>
          <a:p>
            <a:pPr lvl="0" indent="0" marL="0">
              <a:buNone/>
            </a:pPr>
          </a:p>
          <a:p>
            <a:pPr lvl="0"/>
            <a:r>
              <a:rPr/>
              <a:t>Easier navigation in terminal/file explorer</a:t>
            </a:r>
          </a:p>
          <a:p>
            <a:pPr lvl="0" indent="0" marL="0">
              <a:buNone/>
            </a:pPr>
          </a:p>
          <a:p>
            <a:pPr lvl="0"/>
            <a:r>
              <a:rPr/>
              <a:t>Better organization when you have many worktrees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Shell alias examples to mention: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alias</a:t>
            </a:r>
            <a:r>
              <a:rPr>
                <a:latin typeface="Courier"/>
              </a:rPr>
              <a:t> gwa=</a:t>
            </a:r>
            <a:r>
              <a:rPr>
                <a:solidFill>
                  <a:srgbClr val="4070A0"/>
                </a:solidFill>
                <a:latin typeface="Courier"/>
              </a:rPr>
              <a:t>'git worktree add'</a:t>
            </a:r>
            <a:br/>
            <a:r>
              <a:rPr>
                <a:solidFill>
                  <a:srgbClr val="008000"/>
                </a:solidFill>
                <a:latin typeface="Courier"/>
              </a:rPr>
              <a:t>alias</a:t>
            </a:r>
            <a:r>
              <a:rPr>
                <a:latin typeface="Courier"/>
              </a:rPr>
              <a:t> gwl=</a:t>
            </a:r>
            <a:r>
              <a:rPr>
                <a:solidFill>
                  <a:srgbClr val="4070A0"/>
                </a:solidFill>
                <a:latin typeface="Courier"/>
              </a:rPr>
              <a:t>'git worktree list'</a:t>
            </a:r>
            <a:br/>
            <a:r>
              <a:rPr>
                <a:solidFill>
                  <a:srgbClr val="008000"/>
                </a:solidFill>
                <a:latin typeface="Courier"/>
              </a:rPr>
              <a:t>alias</a:t>
            </a:r>
            <a:r>
              <a:rPr>
                <a:latin typeface="Courier"/>
              </a:rPr>
              <a:t> gwr=</a:t>
            </a:r>
            <a:r>
              <a:rPr>
                <a:solidFill>
                  <a:srgbClr val="4070A0"/>
                </a:solidFill>
                <a:latin typeface="Courier"/>
              </a:rPr>
              <a:t>'git worktree remove'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IDE integration tips:</a:t>
            </a:r>
          </a:p>
          <a:p>
            <a:pPr lvl="0" indent="0" marL="0">
              <a:buNone/>
            </a:pPr>
          </a:p>
          <a:p>
            <a:pPr lvl="0"/>
            <a:r>
              <a:rPr/>
              <a:t>Most IDEs can have different project configurations per directory</a:t>
            </a:r>
          </a:p>
          <a:p>
            <a:pPr lvl="0" indent="0" marL="0">
              <a:buNone/>
            </a:pPr>
          </a:p>
          <a:p>
            <a:pPr lvl="0"/>
            <a:r>
              <a:rPr/>
              <a:t>VS Code workspaces work great with worktrees</a:t>
            </a:r>
          </a:p>
          <a:p>
            <a:pPr lvl="0" indent="0" marL="0">
              <a:buNone/>
            </a:pPr>
          </a:p>
          <a:p>
            <a:pPr lvl="0"/>
            <a:r>
              <a:rPr/>
              <a:t>Each worktree can have its own extensions/settings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4-5 minutes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“Let’s explore some specific use cases where worktrees really shine…”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slide provides specific, actionable use cases that developers can immediately apply.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Use case deep-dive: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Code Reviews:</a:t>
            </a:r>
          </a:p>
          <a:p>
            <a:pPr lvl="0" indent="0" marL="0">
              <a:buNone/>
            </a:pPr>
          </a:p>
          <a:p>
            <a:pPr lvl="0"/>
            <a:r>
              <a:rPr/>
              <a:t>Pull down any PR branch for local testing</a:t>
            </a:r>
          </a:p>
          <a:p>
            <a:pPr lvl="0" indent="0" marL="0">
              <a:buNone/>
            </a:pPr>
          </a:p>
          <a:p>
            <a:pPr lvl="0"/>
            <a:r>
              <a:rPr/>
              <a:t>Don’t interrupt your current work</a:t>
            </a:r>
          </a:p>
          <a:p>
            <a:pPr lvl="0" indent="0" marL="0">
              <a:buNone/>
            </a:pPr>
          </a:p>
          <a:p>
            <a:pPr lvl="0"/>
            <a:r>
              <a:rPr/>
              <a:t>Can run both implementations side-by-side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Experimental Development:</a:t>
            </a:r>
          </a:p>
          <a:p>
            <a:pPr lvl="0" indent="0" marL="0">
              <a:buNone/>
            </a:pPr>
          </a:p>
          <a:p>
            <a:pPr lvl="0"/>
            <a:r>
              <a:rPr/>
              <a:t>Safe space for trying radical changes</a:t>
            </a:r>
          </a:p>
          <a:p>
            <a:pPr lvl="0" indent="0" marL="0">
              <a:buNone/>
            </a:pPr>
          </a:p>
          <a:p>
            <a:pPr lvl="0"/>
            <a:r>
              <a:rPr/>
              <a:t>Easy to discard if experiment fails</a:t>
            </a:r>
          </a:p>
          <a:p>
            <a:pPr lvl="0" indent="0" marL="0">
              <a:buNone/>
            </a:pPr>
          </a:p>
          <a:p>
            <a:pPr lvl="0"/>
            <a:r>
              <a:rPr/>
              <a:t>Can cherry-pick successful pieces back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Performance Comparison:</a:t>
            </a:r>
          </a:p>
          <a:p>
            <a:pPr lvl="0" indent="0" marL="0">
              <a:buNone/>
            </a:pPr>
          </a:p>
          <a:p>
            <a:pPr lvl="0"/>
            <a:r>
              <a:rPr/>
              <a:t>Run benchmarks on different implementations</a:t>
            </a:r>
          </a:p>
          <a:p>
            <a:pPr lvl="0" indent="0" marL="0">
              <a:buNone/>
            </a:pPr>
          </a:p>
          <a:p>
            <a:pPr lvl="0"/>
            <a:r>
              <a:rPr/>
              <a:t>A/B testing with real data</a:t>
            </a:r>
          </a:p>
          <a:p>
            <a:pPr lvl="0" indent="0" marL="0">
              <a:buNone/>
            </a:pPr>
          </a:p>
          <a:p>
            <a:pPr lvl="0"/>
            <a:r>
              <a:rPr/>
              <a:t>Visual comparison of outputs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Multiple Releases:</a:t>
            </a:r>
          </a:p>
          <a:p>
            <a:pPr lvl="0" indent="0" marL="0">
              <a:buNone/>
            </a:pPr>
          </a:p>
          <a:p>
            <a:pPr lvl="0"/>
            <a:r>
              <a:rPr/>
              <a:t>Support multiple product versions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Backport fixes to older releases</a:t>
            </a:r>
          </a:p>
          <a:p>
            <a:pPr lvl="0" indent="0" marL="0">
              <a:buNone/>
            </a:pPr>
          </a:p>
          <a:p>
            <a:pPr lvl="0"/>
            <a:r>
              <a:rPr/>
              <a:t>Different deployment pipelines per version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Audience engagement:</a:t>
            </a:r>
            <a:r>
              <a:rPr/>
              <a:t> “Which of these scenarios would be most valuable in your current projects?”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5-6 minutes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“Let’s do a quick hands-on exercise to cement these concepts…”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Hands-on practice is crucial for retention. This exercise covers the basic workflow.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Facilitation approach:</a:t>
            </a:r>
          </a:p>
          <a:p>
            <a:pPr lvl="0" indent="0" marL="0">
              <a:buNone/>
            </a:pPr>
          </a:p>
          <a:p>
            <a:pPr lvl="0"/>
            <a:r>
              <a:rPr/>
              <a:t>Give people 5 minutes to work through this</a:t>
            </a:r>
          </a:p>
          <a:p>
            <a:pPr lvl="0" indent="0" marL="0">
              <a:buNone/>
            </a:pPr>
          </a:p>
          <a:p>
            <a:pPr lvl="0"/>
            <a:r>
              <a:rPr/>
              <a:t>Walk around and help individuals if needed</a:t>
            </a:r>
          </a:p>
          <a:p>
            <a:pPr lvl="0" indent="0" marL="0">
              <a:buNone/>
            </a:pPr>
          </a:p>
          <a:p>
            <a:pPr lvl="0"/>
            <a:r>
              <a:rPr/>
              <a:t>Ask people to raise hands when they complete each step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Common issues to watch for:</a:t>
            </a:r>
          </a:p>
          <a:p>
            <a:pPr lvl="0" indent="0" marL="0">
              <a:buNone/>
            </a:pPr>
          </a:p>
          <a:p>
            <a:pPr lvl="0"/>
            <a:r>
              <a:rPr/>
              <a:t>People trying to create worktrees inside the current repo</a:t>
            </a:r>
          </a:p>
          <a:p>
            <a:pPr lvl="0" indent="0" marL="0">
              <a:buNone/>
            </a:pPr>
          </a:p>
          <a:p>
            <a:pPr lvl="0"/>
            <a:r>
              <a:rPr/>
              <a:t>Forgetting to navigate to the new directory</a:t>
            </a:r>
          </a:p>
          <a:p>
            <a:pPr lvl="0" indent="0" marL="0">
              <a:buNone/>
            </a:pPr>
          </a:p>
          <a:p>
            <a:pPr lvl="0"/>
            <a:r>
              <a:rPr/>
              <a:t>Not understanding that each directory is independent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Extension exercise for fast finishers:</a:t>
            </a:r>
          </a:p>
          <a:p>
            <a:pPr lvl="0" indent="0" marL="0">
              <a:buNone/>
            </a:pPr>
          </a:p>
          <a:p>
            <a:pPr lvl="0"/>
            <a:r>
              <a:rPr/>
              <a:t>Switch between the directories and observe file differences</a:t>
            </a:r>
          </a:p>
          <a:p>
            <a:pPr lvl="0" indent="0" marL="0">
              <a:buNone/>
            </a:pPr>
          </a:p>
          <a:p>
            <a:pPr lvl="0"/>
            <a:r>
              <a:rPr/>
              <a:t>Try making conflicting changes in both worktrees</a:t>
            </a:r>
          </a:p>
          <a:p>
            <a:pPr lvl="0" indent="0" marL="0">
              <a:buNone/>
            </a:pPr>
          </a:p>
          <a:p>
            <a:pPr lvl="0"/>
            <a:r>
              <a:rPr/>
              <a:t>Experiment with </a:t>
            </a:r>
            <a:r>
              <a:rPr>
                <a:latin typeface="Courier"/>
              </a:rPr>
              <a:t>git worktree remove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Debrief questions:</a:t>
            </a:r>
          </a:p>
          <a:p>
            <a:pPr lvl="0" indent="0" marL="0">
              <a:buNone/>
            </a:pPr>
          </a:p>
          <a:p>
            <a:pPr lvl="0"/>
            <a:r>
              <a:rPr/>
              <a:t>“What surprised you about this exercise?”</a:t>
            </a:r>
          </a:p>
          <a:p>
            <a:pPr lvl="0" indent="0" marL="0">
              <a:buNone/>
            </a:pPr>
          </a:p>
          <a:p>
            <a:pPr lvl="0"/>
            <a:r>
              <a:rPr/>
              <a:t>“How do you think this will change your workflow?”</a:t>
            </a:r>
          </a:p>
          <a:p>
            <a:pPr lvl="0" indent="0" marL="0">
              <a:buNone/>
            </a:pPr>
          </a:p>
          <a:p>
            <a:pPr lvl="0"/>
            <a:r>
              <a:rPr/>
              <a:t>“What challenges or questions came up?”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5-7 minutes (including debrief)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“Now let’s troubleshoot some common issues you might encounter…”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Troubleshooting information helps prevent frustration and builds confidence.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Key troubleshooting mindset:</a:t>
            </a:r>
          </a:p>
          <a:p>
            <a:pPr lvl="0" indent="0" marL="0">
              <a:buNone/>
            </a:pPr>
          </a:p>
          <a:p>
            <a:pPr lvl="0"/>
            <a:r>
              <a:rPr/>
              <a:t>Most worktree issues are about references, not the Git objects themselves</a:t>
            </a:r>
          </a:p>
          <a:p>
            <a:pPr lvl="0" indent="0" marL="0">
              <a:buNone/>
            </a:pPr>
          </a:p>
          <a:p>
            <a:pPr lvl="0"/>
            <a:r>
              <a:rPr>
                <a:latin typeface="Courier"/>
              </a:rPr>
              <a:t>git worktree list</a:t>
            </a:r>
            <a:r>
              <a:rPr/>
              <a:t> is your diagnostic tool</a:t>
            </a:r>
          </a:p>
          <a:p>
            <a:pPr lvl="0" indent="0" marL="0">
              <a:buNone/>
            </a:pPr>
          </a:p>
          <a:p>
            <a:pPr lvl="0"/>
            <a:r>
              <a:rPr>
                <a:latin typeface="Courier"/>
              </a:rPr>
              <a:t>git worktree prune</a:t>
            </a:r>
            <a:r>
              <a:rPr/>
              <a:t> fixes most cleanup issues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Detailed explanations: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Branch Already Checked Out:</a:t>
            </a:r>
          </a:p>
          <a:p>
            <a:pPr lvl="0" indent="0" marL="0">
              <a:buNone/>
            </a:pPr>
          </a:p>
          <a:p>
            <a:pPr lvl="0"/>
            <a:r>
              <a:rPr/>
              <a:t>Git prevents the same branch in multiple worktrees (prevents conflicts)</a:t>
            </a:r>
          </a:p>
          <a:p>
            <a:pPr lvl="0" indent="0" marL="0">
              <a:buNone/>
            </a:pPr>
          </a:p>
          <a:p>
            <a:pPr lvl="0"/>
            <a:r>
              <a:rPr/>
              <a:t>Always check </a:t>
            </a:r>
            <a:r>
              <a:rPr>
                <a:latin typeface="Courier"/>
              </a:rPr>
              <a:t>git worktree list</a:t>
            </a:r>
            <a:r>
              <a:rPr/>
              <a:t> first</a:t>
            </a:r>
          </a:p>
          <a:p>
            <a:pPr lvl="0" indent="0" marL="0">
              <a:buNone/>
            </a:pPr>
          </a:p>
          <a:p>
            <a:pPr lvl="0"/>
            <a:r>
              <a:rPr/>
              <a:t>Alternative: create new branch from existing one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Orphaned References:</a:t>
            </a:r>
          </a:p>
          <a:p>
            <a:pPr lvl="0" indent="0" marL="0">
              <a:buNone/>
            </a:pPr>
          </a:p>
          <a:p>
            <a:pPr lvl="0"/>
            <a:r>
              <a:rPr/>
              <a:t>Happens when you manually delete worktree directories</a:t>
            </a:r>
          </a:p>
          <a:p>
            <a:pPr lvl="0" indent="0" marL="0">
              <a:buNone/>
            </a:pPr>
          </a:p>
          <a:p>
            <a:pPr lvl="0"/>
            <a:r>
              <a:rPr/>
              <a:t>Git still thinks the worktree exists</a:t>
            </a:r>
          </a:p>
          <a:p>
            <a:pPr lvl="0" indent="0" marL="0">
              <a:buNone/>
            </a:pPr>
          </a:p>
          <a:p>
            <a:pPr lvl="0"/>
            <a:r>
              <a:rPr>
                <a:latin typeface="Courier"/>
              </a:rPr>
              <a:t>prune</a:t>
            </a:r>
            <a:r>
              <a:rPr/>
              <a:t> command cleans up these stale references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Performance considerations:</a:t>
            </a:r>
          </a:p>
          <a:p>
            <a:pPr lvl="0" indent="0" marL="0">
              <a:buNone/>
            </a:pPr>
          </a:p>
          <a:p>
            <a:pPr lvl="0"/>
            <a:r>
              <a:rPr/>
              <a:t>Each worktree uses disk space (working directory)</a:t>
            </a:r>
          </a:p>
          <a:p>
            <a:pPr lvl="0" indent="0" marL="0">
              <a:buNone/>
            </a:pPr>
          </a:p>
          <a:p>
            <a:pPr lvl="0"/>
            <a:r>
              <a:rPr/>
              <a:t>Too many can slow down some Git operations</a:t>
            </a:r>
          </a:p>
          <a:p>
            <a:pPr lvl="0" indent="0" marL="0">
              <a:buNone/>
            </a:pPr>
          </a:p>
          <a:p>
            <a:pPr lvl="0"/>
            <a:r>
              <a:rPr/>
              <a:t>Regular cleanup is good practice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4-5 minutes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“Let’s wrap up with key takeaways and next steps…”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concluding slide reinforces key benefits and provides clear next steps for immediate action.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Delivery approach:</a:t>
            </a:r>
          </a:p>
          <a:p>
            <a:pPr lvl="0" indent="0" marL="0">
              <a:buNone/>
            </a:pPr>
          </a:p>
          <a:p>
            <a:pPr lvl="0"/>
            <a:r>
              <a:rPr/>
              <a:t>Recap the main value propositions from the beginning</a:t>
            </a:r>
          </a:p>
          <a:p>
            <a:pPr lvl="0" indent="0" marL="0">
              <a:buNone/>
            </a:pPr>
          </a:p>
          <a:p>
            <a:pPr lvl="0"/>
            <a:r>
              <a:rPr/>
              <a:t>Give people concrete, actionable first steps</a:t>
            </a:r>
          </a:p>
          <a:p>
            <a:pPr lvl="0" indent="0" marL="0">
              <a:buNone/>
            </a:pPr>
          </a:p>
          <a:p>
            <a:pPr lvl="0"/>
            <a:r>
              <a:rPr/>
              <a:t>End with motivation for continued learning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Reinforcement strategy:</a:t>
            </a:r>
          </a:p>
          <a:p>
            <a:pPr lvl="0" indent="0" marL="0">
              <a:buNone/>
            </a:pPr>
          </a:p>
          <a:p>
            <a:pPr lvl="0"/>
            <a:r>
              <a:rPr/>
              <a:t>Connect back to pain points mentioned at the beginning</a:t>
            </a:r>
          </a:p>
          <a:p>
            <a:pPr lvl="0" indent="0" marL="0">
              <a:buNone/>
            </a:pPr>
          </a:p>
          <a:p>
            <a:pPr lvl="0"/>
            <a:r>
              <a:rPr/>
              <a:t>Emphasize that this is learnable and immediately beneficial</a:t>
            </a:r>
          </a:p>
          <a:p>
            <a:pPr lvl="0" indent="0" marL="0">
              <a:buNone/>
            </a:pPr>
          </a:p>
          <a:p>
            <a:pPr lvl="0"/>
            <a:r>
              <a:rPr/>
              <a:t>Address that it’s a gradual adoption, not all-or-nothing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Call to action:</a:t>
            </a:r>
          </a:p>
          <a:p>
            <a:pPr lvl="0" indent="0" marL="0">
              <a:buNone/>
            </a:pPr>
          </a:p>
          <a:p>
            <a:pPr lvl="0"/>
            <a:r>
              <a:rPr/>
              <a:t>Encourage people to try worktrees on their very next branch</a:t>
            </a:r>
          </a:p>
          <a:p>
            <a:pPr lvl="0" indent="0" marL="0">
              <a:buNone/>
            </a:pPr>
          </a:p>
          <a:p>
            <a:pPr lvl="0"/>
            <a:r>
              <a:rPr/>
              <a:t>Suggest they teach someone else (best way to solidify learning)</a:t>
            </a:r>
          </a:p>
          <a:p>
            <a:pPr lvl="0" indent="0" marL="0">
              <a:buNone/>
            </a:pPr>
          </a:p>
          <a:p>
            <a:pPr lvl="0"/>
            <a:r>
              <a:rPr/>
              <a:t>Invite questions and sharing of experiences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Follow-up suggestions:</a:t>
            </a:r>
          </a:p>
          <a:p>
            <a:pPr lvl="0" indent="0" marL="0">
              <a:buNone/>
            </a:pPr>
          </a:p>
          <a:p>
            <a:pPr lvl="0"/>
            <a:r>
              <a:rPr/>
              <a:t>Provide links to documentation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Share your contact info for questions</a:t>
            </a:r>
          </a:p>
          <a:p>
            <a:pPr lvl="0" indent="0" marL="0">
              <a:buNone/>
            </a:pPr>
          </a:p>
          <a:p>
            <a:pPr lvl="0"/>
            <a:r>
              <a:rPr/>
              <a:t>Suggest internal team adoption strategies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3-4 minutes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Questions and discussion:</a:t>
            </a:r>
            <a:r>
              <a:rPr/>
              <a:t> Reserve 5-10 minutes for Q&amp;A and sharing experiences.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Closing note:</a:t>
            </a:r>
            <a:r>
              <a:rPr/>
              <a:t> “Worktrees might seem like a small feature, but they represent a fundamental shift toward more efficient, context-preserving development workflows.”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Final slide for resources and Q&amp;A session.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Resource explanations:</a:t>
            </a:r>
          </a:p>
          <a:p>
            <a:pPr lvl="0" indent="0" marL="0">
              <a:buNone/>
            </a:pPr>
          </a:p>
          <a:p>
            <a:pPr lvl="0"/>
            <a:r>
              <a:rPr/>
              <a:t>Direct people to official documentation for deeper learning</a:t>
            </a:r>
          </a:p>
          <a:p>
            <a:pPr lvl="0" indent="0" marL="0">
              <a:buNone/>
            </a:pPr>
          </a:p>
          <a:p>
            <a:pPr lvl="0"/>
            <a:r>
              <a:rPr/>
              <a:t>Mention specific tools that integrate well with worktrees</a:t>
            </a:r>
          </a:p>
          <a:p>
            <a:pPr lvl="0" indent="0" marL="0">
              <a:buNone/>
            </a:pPr>
          </a:p>
          <a:p>
            <a:pPr lvl="0"/>
            <a:r>
              <a:rPr/>
              <a:t>Provide your contact for follow-up questions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Q&amp;A facilitation:</a:t>
            </a:r>
          </a:p>
          <a:p>
            <a:pPr lvl="0" indent="0" marL="0">
              <a:buNone/>
            </a:pPr>
          </a:p>
          <a:p>
            <a:pPr lvl="0"/>
            <a:r>
              <a:rPr/>
              <a:t>Open the floor for any questions about implementation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Ask for specific use cases people want to discuss</a:t>
            </a:r>
          </a:p>
          <a:p>
            <a:pPr lvl="0" indent="0" marL="0">
              <a:buNone/>
            </a:pPr>
          </a:p>
          <a:p>
            <a:pPr lvl="0"/>
            <a:r>
              <a:rPr/>
              <a:t>Share experiences from other teams who adopted worktrees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Common questions to be prepared for:</a:t>
            </a:r>
          </a:p>
          <a:p>
            <a:pPr lvl="0" indent="0" marL="0">
              <a:buNone/>
            </a:pPr>
          </a:p>
          <a:p>
            <a:pPr lvl="0"/>
            <a:r>
              <a:rPr/>
              <a:t>“How does this work with IDEs?”</a:t>
            </a:r>
          </a:p>
          <a:p>
            <a:pPr lvl="0" indent="0" marL="0">
              <a:buNone/>
            </a:pPr>
          </a:p>
          <a:p>
            <a:pPr lvl="0"/>
            <a:r>
              <a:rPr/>
              <a:t>“What about large repositories?”</a:t>
            </a:r>
          </a:p>
          <a:p>
            <a:pPr lvl="0" indent="0" marL="0">
              <a:buNone/>
            </a:pPr>
          </a:p>
          <a:p>
            <a:pPr lvl="0"/>
            <a:r>
              <a:rPr/>
              <a:t>“Can this work with Git LFS?”</a:t>
            </a:r>
          </a:p>
          <a:p>
            <a:pPr lvl="0" indent="0" marL="0">
              <a:buNone/>
            </a:pPr>
          </a:p>
          <a:p>
            <a:pPr lvl="0"/>
            <a:r>
              <a:rPr/>
              <a:t>“How does this affect CI/CD?”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5-10 minutes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Follow-up actions:</a:t>
            </a:r>
          </a:p>
          <a:p>
            <a:pPr lvl="0" indent="0" marL="0">
              <a:buNone/>
            </a:pPr>
          </a:p>
          <a:p>
            <a:pPr lvl="0"/>
            <a:r>
              <a:rPr/>
              <a:t>Consider recording answers to common questions</a:t>
            </a:r>
          </a:p>
          <a:p>
            <a:pPr lvl="0" indent="0" marL="0">
              <a:buNone/>
            </a:pPr>
          </a:p>
          <a:p>
            <a:pPr lvl="0"/>
            <a:r>
              <a:rPr/>
              <a:t>Offer to help with initial implementation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Plan follow-up sessions for advanced topics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End on a positive note:</a:t>
            </a:r>
            <a:r>
              <a:rPr/>
              <a:t> “You now have a powerful new tool for more efficient Git workflows. Start small, practice regularly, and you’ll wonder how you worked without worktrees!”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Relationship Id="rId3" Type="http://schemas.openxmlformats.org/officeDocument/2006/relationships/hyperlink" Target="https://git-scm.com/docs/git-worktree" TargetMode="External" /><Relationship Id="rId4" Type="http://schemas.openxmlformats.org/officeDocument/2006/relationships/hyperlink" Target="https://git-scm.com/book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GitHub Worktrees Mastery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Parallel Development Made Simple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Are Git Worktrees?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Multiple working directories from the same repository</a:t>
            </a:r>
          </a:p>
          <a:p>
            <a:pPr lvl="0"/>
            <a:r>
              <a:rPr/>
              <a:t>🌳 </a:t>
            </a:r>
            <a:r>
              <a:rPr b="1"/>
              <a:t>One repository, many checkouts</a:t>
            </a:r>
          </a:p>
          <a:p>
            <a:pPr lvl="0"/>
            <a:r>
              <a:rPr/>
              <a:t>📂 </a:t>
            </a:r>
            <a:r>
              <a:rPr b="1"/>
              <a:t>Separate directories</a:t>
            </a:r>
            <a:r>
              <a:rPr/>
              <a:t> for different branches</a:t>
            </a:r>
          </a:p>
          <a:p>
            <a:pPr lvl="0"/>
            <a:r>
              <a:rPr/>
              <a:t>⚡ </a:t>
            </a:r>
            <a:r>
              <a:rPr b="1"/>
              <a:t>No cloning overhead</a:t>
            </a:r>
            <a:r>
              <a:rPr/>
              <a:t> - shared object database</a:t>
            </a:r>
          </a:p>
          <a:p>
            <a:pPr lvl="0"/>
            <a:r>
              <a:rPr/>
              <a:t>🔄 </a:t>
            </a:r>
            <a:r>
              <a:rPr b="1"/>
              <a:t>Independent working states</a:t>
            </a:r>
            <a:r>
              <a:rPr/>
              <a:t> per branch</a:t>
            </a:r>
          </a:p>
          <a:p>
            <a:pPr lvl="0"/>
            <a:r>
              <a:rPr/>
              <a:t>💾 </a:t>
            </a:r>
            <a:r>
              <a:rPr b="1"/>
              <a:t>Shared Git metadata</a:t>
            </a:r>
            <a:r>
              <a:rPr/>
              <a:t> (.git directory)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Traditional approach: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clone repo.git feature-branch-copy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feature-branch-copy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checkout feature-branch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Worktree approach: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../feature-branch feature-branch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Use Worktrees?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Solve Common Development Pain Points</a:t>
            </a:r>
          </a:p>
          <a:p>
            <a:pPr lvl="0" indent="0" marL="0">
              <a:buNone/>
            </a:pPr>
            <a:r>
              <a:rPr b="1"/>
              <a:t>🚀 Parallel Development</a:t>
            </a:r>
          </a:p>
          <a:p>
            <a:pPr lvl="0"/>
            <a:r>
              <a:rPr/>
              <a:t>Work on multiple features simultaneously</a:t>
            </a:r>
          </a:p>
          <a:p>
            <a:pPr lvl="0"/>
            <a:r>
              <a:rPr/>
              <a:t>Compare implementations side-by-side</a:t>
            </a:r>
          </a:p>
          <a:p>
            <a:pPr lvl="0"/>
            <a:r>
              <a:rPr/>
              <a:t>Test different approaches without switching</a:t>
            </a:r>
          </a:p>
          <a:p>
            <a:pPr lvl="0" indent="0" marL="0">
              <a:buNone/>
            </a:pPr>
            <a:r>
              <a:rPr b="1"/>
              <a:t>⚡ Context Switching</a:t>
            </a:r>
          </a:p>
          <a:p>
            <a:pPr lvl="0"/>
            <a:r>
              <a:rPr/>
              <a:t>No more </a:t>
            </a:r>
            <a:r>
              <a:rPr>
                <a:latin typeface="Courier"/>
              </a:rPr>
              <a:t>git stash</a:t>
            </a:r>
            <a:r>
              <a:rPr/>
              <a:t> and </a:t>
            </a:r>
            <a:r>
              <a:rPr>
                <a:latin typeface="Courier"/>
              </a:rPr>
              <a:t>git checkout</a:t>
            </a:r>
            <a:r>
              <a:rPr/>
              <a:t> dance</a:t>
            </a:r>
          </a:p>
          <a:p>
            <a:pPr lvl="0"/>
            <a:r>
              <a:rPr/>
              <a:t>Keep development environment intact</a:t>
            </a:r>
          </a:p>
          <a:p>
            <a:pPr lvl="0"/>
            <a:r>
              <a:rPr/>
              <a:t>Maintain running processes (servers, debuggers)</a:t>
            </a:r>
          </a:p>
          <a:p>
            <a:pPr lvl="0" indent="0" marL="0">
              <a:buNone/>
            </a:pPr>
            <a:r>
              <a:rPr b="1"/>
              <a:t>🔧 Testing &amp; CI</a:t>
            </a:r>
          </a:p>
          <a:p>
            <a:pPr lvl="0"/>
            <a:r>
              <a:rPr/>
              <a:t>Run tests on different branches simultaneously</a:t>
            </a:r>
          </a:p>
          <a:p>
            <a:pPr lvl="0"/>
            <a:r>
              <a:rPr/>
              <a:t>Local integration testing</a:t>
            </a:r>
          </a:p>
          <a:p>
            <a:pPr lvl="0"/>
            <a:r>
              <a:rPr/>
              <a:t>Branch comparison and validation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Essential Worktree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Core Operations You’ll Use Daily</a:t>
            </a:r>
          </a:p>
          <a:p>
            <a:pPr lvl="0" indent="0" marL="0">
              <a:buNone/>
            </a:pPr>
            <a:r>
              <a:rPr b="1"/>
              <a:t>Creating Worktrees: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Create new branch and worktree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../feature-login feature-login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Use existing branch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../bugfix-auth origin/bugfix-auth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Specify different branch name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../hotfix main</a:t>
            </a:r>
          </a:p>
          <a:p>
            <a:pPr lvl="0" indent="0" marL="0">
              <a:buNone/>
            </a:pPr>
            <a:r>
              <a:rPr b="1"/>
              <a:t>Managing Worktrees: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List all worktrees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list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Remove worktree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remove ../feature-login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Cleanup stale references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prune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Practical Workflow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Real-World Development Scenario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Current situation: Working on feature-auth branch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my-project/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status  </a:t>
            </a:r>
            <a:r>
              <a:rPr i="1">
                <a:solidFill>
                  <a:srgbClr val="60A0B0"/>
                </a:solidFill>
                <a:latin typeface="Courier"/>
              </a:rPr>
              <a:t># Shows changes in progress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Urgent: Bug report needs hotfix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../hotfix main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../hotfix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checkout </a:t>
            </a:r>
            <a:r>
              <a:rPr>
                <a:solidFill>
                  <a:srgbClr val="7D9029"/>
                </a:solidFill>
                <a:latin typeface="Courier"/>
              </a:rPr>
              <a:t>-b</a:t>
            </a:r>
            <a:r>
              <a:rPr>
                <a:latin typeface="Courier"/>
              </a:rPr>
              <a:t> hotfix-security-bug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Fix the bug, test, commit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.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"Fix: Security vulnerability in auth"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push origin hotfix-security-bug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Create PR, continue original work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../my-project/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Your feature-auth work is exactly as you left it!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Two active development streams, zero context loss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Practices &amp; Directory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Set Yourself Up for Success</a:t>
            </a:r>
          </a:p>
          <a:p>
            <a:pPr lvl="0" indent="0" marL="0">
              <a:buNone/>
            </a:pPr>
            <a:r>
              <a:rPr b="1"/>
              <a:t>📁 Directory Structure:</a:t>
            </a:r>
          </a:p>
          <a:p>
            <a:pPr lvl="0" indent="0">
              <a:buNone/>
            </a:pPr>
            <a:r>
              <a:rPr>
                <a:latin typeface="Courier"/>
              </a:rPr>
              <a:t>my-projects/
├── main-repo/           # Main worktree
├── feature-auth/        # Feature worktree
├── hotfix-security/     # Hotfix worktree
└── experimental/        # Experimental worktree</a:t>
            </a:r>
          </a:p>
          <a:p>
            <a:pPr lvl="0" indent="0" marL="0">
              <a:buNone/>
            </a:pPr>
            <a:r>
              <a:rPr b="1"/>
              <a:t>🎯 Naming Conventions:</a:t>
            </a:r>
          </a:p>
          <a:p>
            <a:pPr lvl="0"/>
            <a:r>
              <a:rPr/>
              <a:t>Use descriptive directory names</a:t>
            </a:r>
          </a:p>
          <a:p>
            <a:pPr lvl="0"/>
            <a:r>
              <a:rPr/>
              <a:t>Match directory name to branch purpose</a:t>
            </a:r>
          </a:p>
          <a:p>
            <a:pPr lvl="0"/>
            <a:r>
              <a:rPr/>
              <a:t>Consider team conventions</a:t>
            </a:r>
          </a:p>
          <a:p>
            <a:pPr lvl="0" indent="0" marL="0">
              <a:buNone/>
            </a:pPr>
            <a:r>
              <a:rPr b="1"/>
              <a:t>⚡ Pro Tips:</a:t>
            </a:r>
          </a:p>
          <a:p>
            <a:pPr lvl="0"/>
            <a:r>
              <a:rPr/>
              <a:t>Keep worktrees at the same directory level</a:t>
            </a:r>
          </a:p>
          <a:p>
            <a:pPr lvl="0"/>
            <a:r>
              <a:rPr/>
              <a:t>Use shell aliases for common operations</a:t>
            </a:r>
          </a:p>
          <a:p>
            <a:pPr lvl="0"/>
            <a:r>
              <a:rPr/>
              <a:t>Set up IDE workspace configurations per worktree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When Worktrees Shine Brightest</a:t>
            </a:r>
          </a:p>
          <a:p>
            <a:pPr lvl="0" indent="0" marL="0">
              <a:buNone/>
            </a:pPr>
            <a:r>
              <a:rPr b="1"/>
              <a:t>🔄 Code Reviews &amp; Testing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Check out PR for review while keeping your work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../review-pr-123 origin/pull/123/head</a:t>
            </a:r>
          </a:p>
          <a:p>
            <a:pPr lvl="0" indent="0" marL="0">
              <a:buNone/>
            </a:pPr>
            <a:r>
              <a:rPr b="1"/>
              <a:t>🚧 Experimental Development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Try risky refactoring without affecting main work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../experiment-refactor main</a:t>
            </a:r>
          </a:p>
          <a:p>
            <a:pPr lvl="0" indent="0" marL="0">
              <a:buNone/>
            </a:pPr>
            <a:r>
              <a:rPr b="1"/>
              <a:t>📊 Performance Comparison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Compare performance between implementations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../baseline main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../optimized feature-optimization</a:t>
            </a:r>
          </a:p>
          <a:p>
            <a:pPr lvl="0" indent="0" marL="0">
              <a:buNone/>
            </a:pPr>
            <a:r>
              <a:rPr b="1"/>
              <a:t>🏗️ Multiple Release Preparations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Support multiple versions simultaneously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../v2-release release/v2.0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../v3-dev develop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Hands-On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Try It Yourself (5 minutes)</a:t>
            </a:r>
          </a:p>
          <a:p>
            <a:pPr lvl="0" indent="0" marL="0">
              <a:buNone/>
            </a:pPr>
            <a:r>
              <a:rPr b="1"/>
              <a:t>🎯 Goal:</a:t>
            </a:r>
            <a:r>
              <a:rPr/>
              <a:t> Create and manage multiple worktrees</a:t>
            </a:r>
          </a:p>
          <a:p>
            <a:pPr lvl="0" indent="0" marL="0">
              <a:buNone/>
            </a:pPr>
            <a:r>
              <a:rPr b="1"/>
              <a:t>Step 1:</a:t>
            </a:r>
            <a:r>
              <a:rPr/>
              <a:t> Create feature worktree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../my-feature feature-branch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../my-feature</a:t>
            </a:r>
          </a:p>
          <a:p>
            <a:pPr lvl="0" indent="0" marL="0">
              <a:buNone/>
            </a:pPr>
            <a:r>
              <a:rPr b="1"/>
              <a:t>Step 2:</a:t>
            </a:r>
            <a:r>
              <a:rPr/>
              <a:t> Make some changes and commit</a:t>
            </a:r>
          </a:p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"Feature work"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feature.txt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. </a:t>
            </a:r>
            <a:r>
              <a:rPr b="1">
                <a:solidFill>
                  <a:srgbClr val="007020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"Add feature work"</a:t>
            </a:r>
          </a:p>
          <a:p>
            <a:pPr lvl="0" indent="0" marL="0">
              <a:buNone/>
            </a:pPr>
            <a:r>
              <a:rPr b="1"/>
              <a:t>Step 3:</a:t>
            </a:r>
            <a:r>
              <a:rPr/>
              <a:t> Create review worktree without leaving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../code-review main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../code-review</a:t>
            </a:r>
          </a:p>
          <a:p>
            <a:pPr lvl="0" indent="0" marL="0">
              <a:buNone/>
            </a:pPr>
            <a:r>
              <a:rPr b="1"/>
              <a:t>Step 4:</a:t>
            </a:r>
            <a:r>
              <a:rPr/>
              <a:t> See all your worktrees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list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Troubleshooting &amp;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Issues and Solutions</a:t>
            </a:r>
          </a:p>
          <a:p>
            <a:pPr lvl="0" indent="0" marL="0">
              <a:buNone/>
            </a:pPr>
            <a:r>
              <a:rPr b="1"/>
              <a:t>❌ “Branch is already checked out”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Problem: Branch exists in another worktree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list  </a:t>
            </a:r>
            <a:r>
              <a:rPr i="1">
                <a:solidFill>
                  <a:srgbClr val="60A0B0"/>
                </a:solidFill>
                <a:latin typeface="Courier"/>
              </a:rPr>
              <a:t># Find where it's checked out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Solution: Remove old worktree or use different branch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remove ../old-location</a:t>
            </a:r>
          </a:p>
          <a:p>
            <a:pPr lvl="0" indent="0" marL="0">
              <a:buNone/>
            </a:pPr>
            <a:r>
              <a:rPr b="1"/>
              <a:t>❌ Orphaned worktree references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Problem: Manually deleted worktree directory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list  </a:t>
            </a:r>
            <a:r>
              <a:rPr i="1">
                <a:solidFill>
                  <a:srgbClr val="60A0B0"/>
                </a:solidFill>
                <a:latin typeface="Courier"/>
              </a:rPr>
              <a:t># Shows [missing] worktrees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Solution: Clean up references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prune</a:t>
            </a:r>
          </a:p>
          <a:p>
            <a:pPr lvl="0" indent="0" marL="0">
              <a:buNone/>
            </a:pPr>
            <a:r>
              <a:rPr b="1"/>
              <a:t>💡 Performance Tips:</a:t>
            </a:r>
          </a:p>
          <a:p>
            <a:pPr lvl="0"/>
            <a:r>
              <a:rPr/>
              <a:t>Don’t create too many worktrees (&lt; 10 typically)</a:t>
            </a:r>
          </a:p>
          <a:p>
            <a:pPr lvl="0"/>
            <a:r>
              <a:rPr/>
              <a:t>Clean up unused worktrees regularly</a:t>
            </a:r>
          </a:p>
          <a:p>
            <a:pPr lvl="0"/>
            <a:r>
              <a:rPr/>
              <a:t>Use </a:t>
            </a:r>
            <a:r>
              <a:rPr>
                <a:latin typeface="Courier"/>
              </a:rPr>
              <a:t>git worktree prune</a:t>
            </a:r>
            <a:r>
              <a:rPr/>
              <a:t> in maintenance scripts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Transform Your Git Workflow Today</a:t>
            </a:r>
          </a:p>
          <a:p>
            <a:pPr lvl="0" indent="0" marL="0">
              <a:buNone/>
            </a:pPr>
            <a:r>
              <a:rPr b="1"/>
              <a:t>🎯 Core Benefits:</a:t>
            </a:r>
          </a:p>
          <a:p>
            <a:pPr lvl="0"/>
            <a:r>
              <a:rPr/>
              <a:t>✅ Parallel development without cloning</a:t>
            </a:r>
          </a:p>
          <a:p>
            <a:pPr lvl="0"/>
            <a:r>
              <a:rPr/>
              <a:t>✅ Zero context switching overhead</a:t>
            </a:r>
          </a:p>
          <a:p>
            <a:pPr lvl="0"/>
            <a:r>
              <a:rPr/>
              <a:t>✅ Safe experimentation and comparison</a:t>
            </a:r>
          </a:p>
          <a:p>
            <a:pPr lvl="0"/>
            <a:r>
              <a:rPr/>
              <a:t>✅ Improved code review workflow</a:t>
            </a:r>
          </a:p>
          <a:p>
            <a:pPr lvl="0" indent="0" marL="0">
              <a:buNone/>
            </a:pPr>
            <a:r>
              <a:rPr b="1"/>
              <a:t>🚀 Start Small:</a:t>
            </a:r>
          </a:p>
          <a:p>
            <a:pPr lvl="0" indent="-342900" marL="342900">
              <a:buAutoNum type="arabicPeriod"/>
            </a:pPr>
            <a:r>
              <a:rPr/>
              <a:t>Try one worktree for your next feature branch</a:t>
            </a:r>
          </a:p>
          <a:p>
            <a:pPr lvl="0" indent="-342900" marL="342900">
              <a:buAutoNum type="arabicPeriod"/>
            </a:pPr>
            <a:r>
              <a:rPr/>
              <a:t>Use for urgent hotfixes when you have uncommitted work</a:t>
            </a:r>
          </a:p>
          <a:p>
            <a:pPr lvl="0" indent="-342900" marL="342900">
              <a:buAutoNum type="arabicPeriod"/>
            </a:pPr>
            <a:r>
              <a:rPr/>
              <a:t>Gradually incorporate into regular workflow</a:t>
            </a:r>
          </a:p>
          <a:p>
            <a:pPr lvl="0" indent="0" marL="0">
              <a:buNone/>
            </a:pPr>
            <a:r>
              <a:rPr b="1"/>
              <a:t>📚 Next Steps:</a:t>
            </a:r>
          </a:p>
          <a:p>
            <a:pPr lvl="0"/>
            <a:r>
              <a:rPr/>
              <a:t>Practice with your current project</a:t>
            </a:r>
          </a:p>
          <a:p>
            <a:pPr lvl="0"/>
            <a:r>
              <a:rPr/>
              <a:t>Set up shell aliases for common commands</a:t>
            </a:r>
          </a:p>
          <a:p>
            <a:pPr lvl="0"/>
            <a:r>
              <a:rPr/>
              <a:t>Configure your IDE for multi-worktree workflows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Resources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Continue Your Learning Journey</a:t>
            </a:r>
          </a:p>
          <a:p>
            <a:pPr lvl="0" indent="0" marL="0">
              <a:buNone/>
            </a:pPr>
            <a:r>
              <a:rPr b="1"/>
              <a:t>📖 Official Documentation:</a:t>
            </a:r>
          </a:p>
          <a:p>
            <a:pPr lvl="0"/>
            <a:r>
              <a:rPr>
                <a:hlinkClick r:id="rId3"/>
              </a:rPr>
              <a:t>Git Worktree Manual</a:t>
            </a:r>
          </a:p>
          <a:p>
            <a:pPr lvl="0"/>
            <a:r>
              <a:rPr>
                <a:hlinkClick r:id="rId4"/>
              </a:rPr>
              <a:t>Pro Git Book Chapter</a:t>
            </a:r>
          </a:p>
          <a:p>
            <a:pPr lvl="0" indent="0" marL="0">
              <a:buNone/>
            </a:pPr>
            <a:r>
              <a:rPr b="1"/>
              <a:t>🛠️ Tools &amp; Integration:</a:t>
            </a:r>
          </a:p>
          <a:p>
            <a:pPr lvl="0"/>
            <a:r>
              <a:rPr/>
              <a:t>VS Code Multi-root Workspaces</a:t>
            </a:r>
          </a:p>
          <a:p>
            <a:pPr lvl="0"/>
            <a:r>
              <a:rPr/>
              <a:t>Shell aliases and scripts</a:t>
            </a:r>
          </a:p>
          <a:p>
            <a:pPr lvl="0"/>
            <a:r>
              <a:rPr/>
              <a:t>Team workflow templates</a:t>
            </a:r>
          </a:p>
          <a:p>
            <a:pPr lvl="0" indent="0" marL="0">
              <a:buNone/>
            </a:pPr>
            <a:r>
              <a:rPr b="1"/>
              <a:t>💬 Questions &amp; Discussion</a:t>
            </a:r>
          </a:p>
          <a:p>
            <a:pPr lvl="0" indent="0" marL="0">
              <a:buNone/>
            </a:pPr>
            <a:r>
              <a:rPr b="1"/>
              <a:t>Contact:</a:t>
            </a:r>
            <a:r>
              <a:rPr/>
              <a:t> [Your contact information]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2026-02-06T22:48:31Z</dcterms:created>
  <dcterms:modified xsi:type="dcterms:W3CDTF">2026-02-06T22:48:31Z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_generated">
    <vt:lpwstr>True</vt:lpwstr>
  </property>
  <property fmtid="{D5CDD505-2E9C-101B-9397-08002B2CF9AE}" pid="3" name="ai_log">
    <vt:lpwstr>ai-logs/2026/02/06/github-worktrees-slides-20260206/conversation.md</vt:lpwstr>
  </property>
  <property fmtid="{D5CDD505-2E9C-101B-9397-08002B2CF9AE}" pid="4" name="chat_id">
    <vt:lpwstr>github-worktrees-slides-20260206</vt:lpwstr>
  </property>
  <property fmtid="{D5CDD505-2E9C-101B-9397-08002B2CF9AE}" pid="5" name="ended">
    <vt:lpwstr>2026-02-06T19:10:00Z</vt:lpwstr>
  </property>
  <property fmtid="{D5CDD505-2E9C-101B-9397-08002B2CF9AE}" pid="6" name="model">
    <vt:lpwstr>anthropic/claude-3.5-sonnet@2024-10-22</vt:lpwstr>
  </property>
  <property fmtid="{D5CDD505-2E9C-101B-9397-08002B2CF9AE}" pid="7" name="operator">
    <vt:lpwstr>johnmillerATcodemag-com</vt:lpwstr>
  </property>
  <property fmtid="{D5CDD505-2E9C-101B-9397-08002B2CF9AE}" pid="8" name="prompt">
    <vt:lpwstr>create a marp slide deck how to use github worktrees</vt:lpwstr>
  </property>
  <property fmtid="{D5CDD505-2E9C-101B-9397-08002B2CF9AE}" pid="9" name="source">
    <vt:lpwstr>johnmillerATcodemag-com</vt:lpwstr>
  </property>
  <property fmtid="{D5CDD505-2E9C-101B-9397-08002B2CF9AE}" pid="10" name="started">
    <vt:lpwstr>2026-02-06T18:50:00Z</vt:lpwstr>
  </property>
  <property fmtid="{D5CDD505-2E9C-101B-9397-08002B2CF9AE}" pid="11" name="task_durations">
    <vt:lpwstr/>
  </property>
  <property fmtid="{D5CDD505-2E9C-101B-9397-08002B2CF9AE}" pid="12" name="total_duration">
    <vt:lpwstr>00:20:00</vt:lpwstr>
  </property>
</Properties>
</file>