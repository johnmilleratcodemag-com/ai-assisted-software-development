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notesMaster" Target="notesMasters/notesMaster1.xml" /><Relationship Id="rId17" Type="http://schemas.openxmlformats.org/officeDocument/2006/relationships/viewProps" Target="viewProps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9" Type="http://schemas.openxmlformats.org/officeDocument/2006/relationships/tableStyles" Target="tableStyles.xml" /><Relationship Id="rId18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Welcome to this presentation on VS Code Copilot Agents. This session will introduce you to the revolutionary concept of autonomous AI agents that can handle complete coding tasks end-to-end.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Key delivery points:</a:t>
            </a:r>
          </a:p>
          <a:p>
            <a:pPr lvl="0" indent="0" marL="0">
              <a:buNone/>
            </a:pPr>
          </a:p>
          <a:p>
            <a:pPr lvl="0"/>
            <a:r>
              <a:rPr/>
              <a:t>Emphasize this goes beyond simple code suggestions</a:t>
            </a:r>
          </a:p>
          <a:p>
            <a:pPr lvl="0" indent="0" marL="0">
              <a:buNone/>
            </a:pPr>
          </a:p>
          <a:p>
            <a:pPr lvl="0"/>
            <a:r>
              <a:rPr/>
              <a:t>Set expectations for a comprehensive overview</a:t>
            </a:r>
          </a:p>
          <a:p>
            <a:pPr lvl="0" indent="0" marL="0">
              <a:buNone/>
            </a:pPr>
          </a:p>
          <a:p>
            <a:pPr lvl="0"/>
            <a:r>
              <a:rPr/>
              <a:t>Time allocation: 2-3 minutes introduction</a:t>
            </a:r>
          </a:p>
          <a:p>
            <a:pPr lvl="0" indent="0" marL="0">
              <a:buNone/>
            </a:pPr>
          </a:p>
          <a:p>
            <a:pPr lvl="0"/>
            <a:r>
              <a:rPr/>
              <a:t>Engage audience with question: “Who has used basic GitHub Copilot suggestions?”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Transition:</a:t>
            </a:r>
            <a:r>
              <a:rPr/>
              <a:t> “Let’s start by understanding what makes agents different from traditional AI assistance…”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slide establishes the fundamental difference between agents and traditional AI assistance.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Key talking points:</a:t>
            </a:r>
          </a:p>
          <a:p>
            <a:pPr lvl="0" indent="0" marL="0">
              <a:buNone/>
            </a:pPr>
          </a:p>
          <a:p>
            <a:pPr lvl="0"/>
            <a:r>
              <a:rPr/>
              <a:t>Traditional Copilot gives you code suggestions; agents perform complete workflows</a:t>
            </a:r>
          </a:p>
          <a:p>
            <a:pPr lvl="0" indent="0" marL="0">
              <a:buNone/>
            </a:pPr>
          </a:p>
          <a:p>
            <a:pPr lvl="0"/>
            <a:r>
              <a:rPr/>
              <a:t>Example: Instead of suggesting a fix for a failing test, an agent will read the error, identify the root cause across files, update code, re-run tests, and commit changes</a:t>
            </a:r>
          </a:p>
          <a:p>
            <a:pPr lvl="0" indent="0" marL="0">
              <a:buNone/>
            </a:pPr>
          </a:p>
          <a:p>
            <a:pPr lvl="0"/>
            <a:r>
              <a:rPr/>
              <a:t>Agents break down high-level tasks into actionable steps</a:t>
            </a:r>
          </a:p>
          <a:p>
            <a:pPr lvl="0" indent="0" marL="0">
              <a:buNone/>
            </a:pPr>
          </a:p>
          <a:p>
            <a:pPr lvl="0"/>
            <a:r>
              <a:rPr/>
              <a:t>They use various tools autonomously to achieve objectives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Audience engagement:</a:t>
            </a:r>
            <a:r>
              <a:rPr/>
              <a:t> Ask “What’s the most time-consuming coding task you do repeatedly?” to connect with real pain points.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Timing:</a:t>
            </a:r>
            <a:r>
              <a:rPr/>
              <a:t> 3-4 minutes with examples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Transition:</a:t>
            </a:r>
            <a:r>
              <a:rPr/>
              <a:t> “Now let’s look at the different types of agents available…”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comparison table helps audience understand when to use each agent type.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Key decision factors to explain:</a:t>
            </a:r>
          </a:p>
          <a:p>
            <a:pPr lvl="0" indent="0" marL="0">
              <a:buNone/>
            </a:pPr>
          </a:p>
          <a:p>
            <a:pPr lvl="0"/>
            <a:r>
              <a:rPr b="1"/>
              <a:t>Interactive vs. Autonomous</a:t>
            </a:r>
            <a:r>
              <a:rPr/>
              <a:t>: Do you need real-time feedback or can the agent work independently?</a:t>
            </a:r>
          </a:p>
          <a:p>
            <a:pPr lvl="0" indent="0" marL="0">
              <a:buNone/>
            </a:pPr>
          </a:p>
          <a:p>
            <a:pPr lvl="0"/>
            <a:r>
              <a:rPr b="1"/>
              <a:t>Collaboration</a:t>
            </a:r>
            <a:r>
              <a:rPr/>
              <a:t>: Do team members need to be involved through PRs and issues?</a:t>
            </a:r>
          </a:p>
          <a:p>
            <a:pPr lvl="0" indent="0" marL="0">
              <a:buNone/>
            </a:pPr>
          </a:p>
          <a:p>
            <a:pPr lvl="0"/>
            <a:r>
              <a:rPr b="1"/>
              <a:t>Isolation</a:t>
            </a:r>
            <a:r>
              <a:rPr/>
              <a:t>: How important is it to keep changes separate from your main workspace?</a:t>
            </a:r>
          </a:p>
          <a:p>
            <a:pPr lvl="0" indent="0" marL="0">
              <a:buNone/>
            </a:pPr>
          </a:p>
          <a:p>
            <a:pPr lvl="0"/>
            <a:r>
              <a:rPr b="1"/>
              <a:t>Task definition</a:t>
            </a:r>
            <a:r>
              <a:rPr/>
              <a:t>: Is the task exploratory/ambiguous or well-defined?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Visual aid reference:</a:t>
            </a:r>
            <a:r>
              <a:rPr/>
              <a:t> Mention that VS Code documentation includes a helpful diagram showing these relationships.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Timing:</a:t>
            </a:r>
            <a:r>
              <a:rPr/>
              <a:t> 4-5 minutes </a:t>
            </a:r>
            <a:r>
              <a:rPr b="1"/>
              <a:t>Transition:</a:t>
            </a:r>
            <a:r>
              <a:rPr/>
              <a:t> “Let’s dive deeper into each type, starting with local agents…”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Local agents are perfect for brainstorming and tasks requiring immediate feedback.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Use case examples to share:</a:t>
            </a:r>
          </a:p>
          <a:p>
            <a:pPr lvl="0" indent="0" marL="0">
              <a:buNone/>
            </a:pPr>
          </a:p>
          <a:p>
            <a:pPr lvl="0"/>
            <a:r>
              <a:rPr/>
              <a:t>Planning new features with back-and-forth discussion</a:t>
            </a:r>
          </a:p>
          <a:p>
            <a:pPr lvl="0" indent="0" marL="0">
              <a:buNone/>
            </a:pPr>
          </a:p>
          <a:p>
            <a:pPr lvl="0"/>
            <a:r>
              <a:rPr/>
              <a:t>Debugging complex issues with stack traces</a:t>
            </a:r>
          </a:p>
          <a:p>
            <a:pPr lvl="0" indent="0" marL="0">
              <a:buNone/>
            </a:pPr>
          </a:p>
          <a:p>
            <a:pPr lvl="0"/>
            <a:r>
              <a:rPr/>
              <a:t>Code reviews with immediate explanations</a:t>
            </a:r>
          </a:p>
          <a:p>
            <a:pPr lvl="0" indent="0" marL="0">
              <a:buNone/>
            </a:pPr>
          </a:p>
          <a:p>
            <a:pPr lvl="0"/>
            <a:r>
              <a:rPr/>
              <a:t>Exploring architectural decisions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Technical details:</a:t>
            </a:r>
          </a:p>
          <a:p>
            <a:pPr lvl="0" indent="0" marL="0">
              <a:buNone/>
            </a:pPr>
          </a:p>
          <a:p>
            <a:pPr lvl="0"/>
            <a:r>
              <a:rPr/>
              <a:t>Operates within VS Code’s chat interface</a:t>
            </a:r>
          </a:p>
          <a:p>
            <a:pPr lvl="0" indent="0" marL="0">
              <a:buNone/>
            </a:pPr>
          </a:p>
          <a:p>
            <a:pPr lvl="0"/>
            <a:r>
              <a:rPr/>
              <a:t>Sessions remain active even when chat is closed</a:t>
            </a:r>
          </a:p>
          <a:p>
            <a:pPr lvl="0" indent="0" marL="0">
              <a:buNone/>
            </a:pPr>
          </a:p>
          <a:p>
            <a:pPr lvl="0"/>
            <a:r>
              <a:rPr/>
              <a:t>Can access MCP servers and extension-provided tools</a:t>
            </a:r>
          </a:p>
          <a:p>
            <a:pPr lvl="0" indent="0" marL="0">
              <a:buNone/>
            </a:pPr>
          </a:p>
          <a:p>
            <a:pPr lvl="0"/>
            <a:r>
              <a:rPr/>
              <a:t>Works with all models available in VS Code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Best practices:</a:t>
            </a:r>
          </a:p>
          <a:p>
            <a:pPr lvl="0" indent="0" marL="0">
              <a:buNone/>
            </a:pPr>
          </a:p>
          <a:p>
            <a:pPr lvl="0"/>
            <a:r>
              <a:rPr/>
              <a:t>Use for tasks that are not fully defined</a:t>
            </a:r>
          </a:p>
          <a:p>
            <a:pPr lvl="0" indent="0" marL="0">
              <a:buNone/>
            </a:pPr>
          </a:p>
          <a:p>
            <a:pPr lvl="0"/>
            <a:r>
              <a:rPr/>
              <a:t>Great for learning and exploration</a:t>
            </a:r>
          </a:p>
          <a:p>
            <a:pPr lvl="0" indent="0" marL="0">
              <a:buNone/>
            </a:pPr>
          </a:p>
          <a:p>
            <a:pPr lvl="0"/>
            <a:r>
              <a:rPr/>
              <a:t>Ideal when you need VS Code context (linting errors, test results)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Timing:</a:t>
            </a:r>
            <a:r>
              <a:rPr/>
              <a:t> 3-4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Background agents excel at implementing well-defined plans without interrupting your workflow.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Ideal scenarios:</a:t>
            </a:r>
          </a:p>
          <a:p>
            <a:pPr lvl="0" indent="0" marL="0">
              <a:buNone/>
            </a:pPr>
          </a:p>
          <a:p>
            <a:pPr lvl="0"/>
            <a:r>
              <a:rPr/>
              <a:t>Implementing a detailed feature specification</a:t>
            </a:r>
          </a:p>
          <a:p>
            <a:pPr lvl="0" indent="0" marL="0">
              <a:buNone/>
            </a:pPr>
          </a:p>
          <a:p>
            <a:pPr lvl="0"/>
            <a:r>
              <a:rPr/>
              <a:t>Refactoring code based on clear requirements</a:t>
            </a:r>
          </a:p>
          <a:p>
            <a:pPr lvl="0" indent="0" marL="0">
              <a:buNone/>
            </a:pPr>
          </a:p>
          <a:p>
            <a:pPr lvl="0"/>
            <a:r>
              <a:rPr/>
              <a:t>Batch processing multiple similar changes</a:t>
            </a:r>
          </a:p>
          <a:p>
            <a:pPr lvl="0" indent="0" marL="0">
              <a:buNone/>
            </a:pPr>
          </a:p>
          <a:p>
            <a:pPr lvl="0"/>
            <a:r>
              <a:rPr/>
              <a:t>Proof-of-concept development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Technical implementation:</a:t>
            </a:r>
          </a:p>
          <a:p>
            <a:pPr lvl="0" indent="0" marL="0">
              <a:buNone/>
            </a:pPr>
          </a:p>
          <a:p>
            <a:pPr lvl="0"/>
            <a:r>
              <a:rPr/>
              <a:t>Uses Git worktrees for isolation</a:t>
            </a:r>
          </a:p>
          <a:p>
            <a:pPr lvl="0" indent="0" marL="0">
              <a:buNone/>
            </a:pPr>
          </a:p>
          <a:p>
            <a:pPr lvl="0"/>
            <a:r>
              <a:rPr/>
              <a:t>CLI-based execution (Copilot CLI)</a:t>
            </a:r>
          </a:p>
          <a:p>
            <a:pPr lvl="0" indent="0" marL="0">
              <a:buNone/>
            </a:pPr>
          </a:p>
          <a:p>
            <a:pPr lvl="0"/>
            <a:r>
              <a:rPr/>
              <a:t>Can reuse workspace custom agents for personas</a:t>
            </a:r>
          </a:p>
          <a:p>
            <a:pPr lvl="0" indent="0" marL="0">
              <a:buNone/>
            </a:pPr>
          </a:p>
          <a:p>
            <a:pPr lvl="0"/>
            <a:r>
              <a:rPr/>
              <a:t>Runs on local machine but separated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Workflow tips:</a:t>
            </a:r>
          </a:p>
          <a:p>
            <a:pPr lvl="0" indent="0" marL="0">
              <a:buNone/>
            </a:pPr>
          </a:p>
          <a:p>
            <a:pPr lvl="0"/>
            <a:r>
              <a:rPr/>
              <a:t>Start with local agent for planning</a:t>
            </a:r>
          </a:p>
          <a:p>
            <a:pPr lvl="0" indent="0" marL="0">
              <a:buNone/>
            </a:pPr>
          </a:p>
          <a:p>
            <a:pPr lvl="0"/>
            <a:r>
              <a:rPr/>
              <a:t>Hand off to background agent for implementation</a:t>
            </a:r>
          </a:p>
          <a:p>
            <a:pPr lvl="0" indent="0" marL="0">
              <a:buNone/>
            </a:pPr>
          </a:p>
          <a:p>
            <a:pPr lvl="0"/>
            <a:r>
              <a:rPr/>
              <a:t>Use isolation to experiment safely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Common pitfall:</a:t>
            </a:r>
            <a:r>
              <a:rPr/>
              <a:t> Don’t use for tasks requiring VS Code runtime context unless manually provided.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Timing:</a:t>
            </a:r>
            <a:r>
              <a:rPr/>
              <a:t> 3-4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Cloud agents bridge the gap between AI assistance and team collaboration workflows.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Key collaboration features:</a:t>
            </a:r>
          </a:p>
          <a:p>
            <a:pPr lvl="0" indent="0" marL="0">
              <a:buNone/>
            </a:pPr>
          </a:p>
          <a:p>
            <a:pPr lvl="0"/>
            <a:r>
              <a:rPr/>
              <a:t>Copilot coding agent integrates with GitHub</a:t>
            </a:r>
          </a:p>
          <a:p>
            <a:pPr lvl="0" indent="0" marL="0">
              <a:buNone/>
            </a:pPr>
          </a:p>
          <a:p>
            <a:pPr lvl="0"/>
            <a:r>
              <a:rPr/>
              <a:t>Can be assigned GitHub issues directly</a:t>
            </a:r>
          </a:p>
          <a:p>
            <a:pPr lvl="0" indent="0" marL="0">
              <a:buNone/>
            </a:pPr>
          </a:p>
          <a:p>
            <a:pPr lvl="0"/>
            <a:r>
              <a:rPr/>
              <a:t>Creates pull requests for team review</a:t>
            </a:r>
          </a:p>
          <a:p>
            <a:pPr lvl="0" indent="0" marL="0">
              <a:buNone/>
            </a:pPr>
          </a:p>
          <a:p>
            <a:pPr lvl="0"/>
            <a:r>
              <a:rPr/>
              <a:t>Supports @copilot mentions in issues/PRs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Partner agents:</a:t>
            </a:r>
          </a:p>
          <a:p>
            <a:pPr lvl="0" indent="0" marL="0">
              <a:buNone/>
            </a:pPr>
          </a:p>
          <a:p>
            <a:pPr lvl="0"/>
            <a:r>
              <a:rPr/>
              <a:t>Alternative AI providers beyond GitHub Copilot</a:t>
            </a:r>
          </a:p>
          <a:p>
            <a:pPr lvl="0" indent="0" marL="0">
              <a:buNone/>
            </a:pPr>
          </a:p>
          <a:p>
            <a:pPr lvl="0"/>
            <a:r>
              <a:rPr/>
              <a:t>Claude Agent with specialized commands</a:t>
            </a:r>
          </a:p>
          <a:p>
            <a:pPr lvl="0" indent="0" marL="0">
              <a:buNone/>
            </a:pPr>
          </a:p>
          <a:p>
            <a:pPr lvl="0"/>
            <a:r>
              <a:rPr/>
              <a:t>OpenAI Codex integration</a:t>
            </a:r>
          </a:p>
          <a:p>
            <a:pPr lvl="0" indent="0" marL="0">
              <a:buNone/>
            </a:pPr>
          </a:p>
          <a:p>
            <a:pPr lvl="0"/>
            <a:r>
              <a:rPr/>
              <a:t>Each brings unique capabilities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Team workflow example: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/>
              <a:t>Local agent creates implementation plan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/>
              <a:t>Background agent creates proof of concept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/>
              <a:t>Cloud agent implements final version in PR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/>
              <a:t>Team reviews and collaborates on the PR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Timing:</a:t>
            </a:r>
            <a:r>
              <a:rPr/>
              <a:t> 4-5 minutes </a:t>
            </a:r>
            <a:r>
              <a:rPr b="1"/>
              <a:t>Transition:</a:t>
            </a:r>
            <a:r>
              <a:rPr/>
              <a:t> “Let’s see how these agents work together in practice…”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sessions management is what makes the multi-agent workflow practical and organized.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Key management features:</a:t>
            </a:r>
          </a:p>
          <a:p>
            <a:pPr lvl="0" indent="0" marL="0">
              <a:buNone/>
            </a:pPr>
          </a:p>
          <a:p>
            <a:pPr lvl="0"/>
            <a:r>
              <a:rPr/>
              <a:t>All sessions visible regardless of where they run</a:t>
            </a:r>
          </a:p>
          <a:p>
            <a:pPr lvl="0" indent="0" marL="0">
              <a:buNone/>
            </a:pPr>
          </a:p>
          <a:p>
            <a:pPr lvl="0"/>
            <a:r>
              <a:rPr/>
              <a:t>Status indicators show unread messages and active work</a:t>
            </a:r>
          </a:p>
          <a:p>
            <a:pPr lvl="0" indent="0" marL="0">
              <a:buNone/>
            </a:pPr>
          </a:p>
          <a:p>
            <a:pPr lvl="0"/>
            <a:r>
              <a:rPr/>
              <a:t>Can filter by status, type, or time period</a:t>
            </a:r>
          </a:p>
          <a:p>
            <a:pPr lvl="0" indent="0" marL="0">
              <a:buNone/>
            </a:pPr>
          </a:p>
          <a:p>
            <a:pPr lvl="0"/>
            <a:r>
              <a:rPr/>
              <a:t>Archive completed sessions to reduce clutter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Workflow demonstration:</a:t>
            </a:r>
          </a:p>
          <a:p>
            <a:pPr lvl="0" indent="0" marL="0">
              <a:buNone/>
            </a:pPr>
          </a:p>
          <a:p>
            <a:pPr lvl="0"/>
            <a:r>
              <a:rPr/>
              <a:t>Show how sessions persist when you close chat</a:t>
            </a:r>
          </a:p>
          <a:p>
            <a:pPr lvl="0" indent="0" marL="0">
              <a:buNone/>
            </a:pPr>
          </a:p>
          <a:p>
            <a:pPr lvl="0"/>
            <a:r>
              <a:rPr/>
              <a:t>Explain filtering and search capabilities</a:t>
            </a:r>
          </a:p>
          <a:p>
            <a:pPr lvl="0" indent="0" marL="0">
              <a:buNone/>
            </a:pPr>
          </a:p>
          <a:p>
            <a:pPr lvl="0"/>
            <a:r>
              <a:rPr/>
              <a:t>Mention workspace-scoped session lists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Hand-off capabilities:</a:t>
            </a:r>
          </a:p>
          <a:p>
            <a:pPr lvl="0" indent="0" marL="0">
              <a:buNone/>
            </a:pPr>
          </a:p>
          <a:p>
            <a:pPr lvl="0"/>
            <a:r>
              <a:rPr/>
              <a:t>Critical feature for multi-stage workflows</a:t>
            </a:r>
          </a:p>
          <a:p>
            <a:pPr lvl="0" indent="0" marL="0">
              <a:buNone/>
            </a:pPr>
          </a:p>
          <a:p>
            <a:pPr lvl="0"/>
            <a:r>
              <a:rPr/>
              <a:t>Full conversation history carries over</a:t>
            </a:r>
          </a:p>
          <a:p>
            <a:pPr lvl="0" indent="0" marL="0">
              <a:buNone/>
            </a:pPr>
          </a:p>
          <a:p>
            <a:pPr lvl="0"/>
            <a:r>
              <a:rPr/>
              <a:t>Original session gets archived automatically</a:t>
            </a:r>
          </a:p>
          <a:p>
            <a:pPr lvl="0" indent="0" marL="0">
              <a:buNone/>
            </a:pPr>
          </a:p>
          <a:p>
            <a:pPr lvl="0"/>
            <a:r>
              <a:rPr/>
              <a:t>Example: Local planning → Background implementation → Cloud team review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UI modes:</a:t>
            </a:r>
          </a:p>
          <a:p>
            <a:pPr lvl="0" indent="0" marL="0">
              <a:buNone/>
            </a:pPr>
          </a:p>
          <a:p>
            <a:pPr lvl="0"/>
            <a:r>
              <a:rPr/>
              <a:t>Compact: Embedded in Chat view</a:t>
            </a:r>
          </a:p>
          <a:p>
            <a:pPr lvl="0" indent="0" marL="0">
              <a:buNone/>
            </a:pPr>
          </a:p>
          <a:p>
            <a:pPr lvl="0"/>
            <a:r>
              <a:rPr/>
              <a:t>Side-by-side: Dedicated sessions panel</a:t>
            </a:r>
          </a:p>
          <a:p>
            <a:pPr lvl="0" indent="0" marL="0">
              <a:buNone/>
            </a:pPr>
          </a:p>
          <a:p>
            <a:pPr lvl="0"/>
            <a:r>
              <a:rPr/>
              <a:t>Automatically adapts based on Chat view width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Timing:</a:t>
            </a:r>
            <a:r>
              <a:rPr/>
              <a:t> 4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slide covers the practical aspects of getting started with agents.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Step-by-step flow: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/>
              <a:t>Open Chat view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/>
              <a:t>Select “New Session” dropdown (+)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/>
              <a:t>Choose agent type from dropdown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/>
              <a:t>Start your task description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Command Palette options to mention:</a:t>
            </a:r>
          </a:p>
          <a:p>
            <a:pPr lvl="0" indent="0" marL="0">
              <a:buNone/>
            </a:pPr>
          </a:p>
          <a:p>
            <a:pPr lvl="0"/>
            <a:r>
              <a:rPr/>
              <a:t>“Chat: New Chat Editor/Window” for local agents</a:t>
            </a:r>
          </a:p>
          <a:p>
            <a:pPr lvl="0" indent="0" marL="0">
              <a:buNone/>
            </a:pPr>
          </a:p>
          <a:p>
            <a:pPr lvl="0"/>
            <a:r>
              <a:rPr/>
              <a:t>“Chat: New Background Agent” for CLI agents</a:t>
            </a:r>
          </a:p>
          <a:p>
            <a:pPr lvl="0" indent="0" marL="0">
              <a:buNone/>
            </a:pPr>
          </a:p>
          <a:p>
            <a:pPr lvl="0"/>
            <a:r>
              <a:rPr/>
              <a:t>“Chat: New Cloud Agent” for GitHub integration</a:t>
            </a:r>
          </a:p>
          <a:p>
            <a:pPr lvl="0" indent="0" marL="0">
              <a:buNone/>
            </a:pPr>
          </a:p>
          <a:p>
            <a:pPr lvl="0"/>
            <a:r>
              <a:rPr/>
              <a:t>Each creates session in chat editor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Advanced features:</a:t>
            </a:r>
          </a:p>
          <a:p>
            <a:pPr lvl="0" indent="0" marL="0">
              <a:buNone/>
            </a:pPr>
          </a:p>
          <a:p>
            <a:pPr lvl="0"/>
            <a:r>
              <a:rPr/>
              <a:t>TODO comment assignment requires GitHub PR extension</a:t>
            </a:r>
          </a:p>
          <a:p>
            <a:pPr lvl="0" indent="0" marL="0">
              <a:buNone/>
            </a:pPr>
          </a:p>
          <a:p>
            <a:pPr lvl="0"/>
            <a:r>
              <a:rPr/>
              <a:t>Can mention @copilot in GitHub issues</a:t>
            </a:r>
          </a:p>
          <a:p>
            <a:pPr lvl="0" indent="0" marL="0">
              <a:buNone/>
            </a:pPr>
          </a:p>
          <a:p>
            <a:pPr lvl="0"/>
            <a:r>
              <a:rPr/>
              <a:t>Welcome page provides quick access to recent sessions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Parallel sessions workflow:</a:t>
            </a:r>
          </a:p>
          <a:p>
            <a:pPr lvl="0" indent="0" marL="0">
              <a:buNone/>
            </a:pPr>
          </a:p>
          <a:p>
            <a:pPr lvl="0"/>
            <a:r>
              <a:rPr/>
              <a:t>Each agent session focused on different task</a:t>
            </a:r>
          </a:p>
          <a:p>
            <a:pPr lvl="0" indent="0" marL="0">
              <a:buNone/>
            </a:pPr>
          </a:p>
          <a:p>
            <a:pPr lvl="0"/>
            <a:r>
              <a:rPr/>
              <a:t>Previous sessions remain active</a:t>
            </a:r>
          </a:p>
          <a:p>
            <a:pPr lvl="0" indent="0" marL="0">
              <a:buNone/>
            </a:pPr>
          </a:p>
          <a:p>
            <a:pPr lvl="0"/>
            <a:r>
              <a:rPr/>
              <a:t>Switch between tasks via sessions list</a:t>
            </a:r>
          </a:p>
          <a:p>
            <a:pPr lvl="0" indent="0" marL="0">
              <a:buNone/>
            </a:pPr>
          </a:p>
          <a:p>
            <a:pPr lvl="0"/>
            <a:r>
              <a:rPr/>
              <a:t>Great for multitasking developers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Timing:</a:t>
            </a:r>
            <a:r>
              <a:rPr/>
              <a:t> 3-4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slide addresses a critical concern: how to safely review and integrate agent changes.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Safety and control emphasis:</a:t>
            </a:r>
          </a:p>
          <a:p>
            <a:pPr lvl="0" indent="0" marL="0">
              <a:buNone/>
            </a:pPr>
          </a:p>
          <a:p>
            <a:pPr lvl="0"/>
            <a:r>
              <a:rPr/>
              <a:t>Agents don’t automatically apply changes</a:t>
            </a:r>
          </a:p>
          <a:p>
            <a:pPr lvl="0" indent="0" marL="0">
              <a:buNone/>
            </a:pPr>
          </a:p>
          <a:p>
            <a:pPr lvl="0"/>
            <a:r>
              <a:rPr/>
              <a:t>Full visibility into what was modified</a:t>
            </a:r>
          </a:p>
          <a:p>
            <a:pPr lvl="0" indent="0" marL="0">
              <a:buNone/>
            </a:pPr>
          </a:p>
          <a:p>
            <a:pPr lvl="0"/>
            <a:r>
              <a:rPr/>
              <a:t>Granular control over which changes to accept</a:t>
            </a:r>
          </a:p>
          <a:p>
            <a:pPr lvl="0" indent="0" marL="0">
              <a:buNone/>
            </a:pPr>
          </a:p>
          <a:p>
            <a:pPr lvl="0"/>
            <a:r>
              <a:rPr/>
              <a:t>Can review before applying to main workspace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Review workflow: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/>
              <a:t>Session completes with change statistics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/>
              <a:t>Select session to view details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/>
              <a:t>Right-click files for individual diffs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/>
              <a:t>Use “View All Changes” for comprehensive review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/>
              <a:t>Apply selectively or all at once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Different agent behaviors:</a:t>
            </a:r>
          </a:p>
          <a:p>
            <a:pPr lvl="0" indent="0" marL="0">
              <a:buNone/>
            </a:pPr>
          </a:p>
          <a:p>
            <a:pPr lvl="0"/>
            <a:r>
              <a:rPr/>
              <a:t>Local agents: Direct workspace integration</a:t>
            </a:r>
          </a:p>
          <a:p>
            <a:pPr lvl="0" indent="0" marL="0">
              <a:buNone/>
            </a:pPr>
          </a:p>
          <a:p>
            <a:pPr lvl="0"/>
            <a:r>
              <a:rPr/>
              <a:t>Background agents: Worktree isolation, manual apply</a:t>
            </a:r>
          </a:p>
          <a:p>
            <a:pPr lvl="0" indent="0" marL="0">
              <a:buNone/>
            </a:pPr>
          </a:p>
          <a:p>
            <a:pPr lvl="0"/>
            <a:r>
              <a:rPr/>
              <a:t>Cloud agents: Pull request workflow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Best practices:</a:t>
            </a:r>
          </a:p>
          <a:p>
            <a:pPr lvl="0" indent="0" marL="0">
              <a:buNone/>
            </a:pPr>
          </a:p>
          <a:p>
            <a:pPr lvl="0"/>
            <a:r>
              <a:rPr/>
              <a:t>Always review before applying</a:t>
            </a:r>
          </a:p>
          <a:p>
            <a:pPr lvl="0" indent="0" marL="0">
              <a:buNone/>
            </a:pPr>
          </a:p>
          <a:p>
            <a:pPr lvl="0"/>
            <a:r>
              <a:rPr/>
              <a:t>Test changes in isolation first</a:t>
            </a:r>
          </a:p>
          <a:p>
            <a:pPr lvl="0" indent="0" marL="0">
              <a:buNone/>
            </a:pPr>
          </a:p>
          <a:p>
            <a:pPr lvl="0"/>
            <a:r>
              <a:rPr/>
              <a:t>Use PR workflow for team visibility</a:t>
            </a:r>
          </a:p>
          <a:p>
            <a:pPr lvl="0" indent="0" marL="0">
              <a:buNone/>
            </a:pPr>
          </a:p>
          <a:p>
            <a:pPr lvl="0"/>
            <a:r>
              <a:rPr/>
              <a:t>Document significant changes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Timing:</a:t>
            </a:r>
            <a:r>
              <a:rPr/>
              <a:t> 3-4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slide demonstrates the power of agent collaboration and specialization.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Complete workflow example: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 b="1"/>
              <a:t>Local agent:</a:t>
            </a:r>
            <a:r>
              <a:rPr/>
              <a:t> Interactive brainstorming and planning</a:t>
            </a:r>
          </a:p>
          <a:p>
            <a:pPr lvl="0" indent="0" marL="0">
              <a:buNone/>
            </a:pPr>
          </a:p>
          <a:p>
            <a:pPr lvl="1"/>
            <a:r>
              <a:rPr/>
              <a:t>Define requirements</a:t>
            </a:r>
          </a:p>
          <a:p>
            <a:pPr lvl="0" indent="0" marL="0">
              <a:buNone/>
            </a:pPr>
          </a:p>
          <a:p>
            <a:pPr lvl="1"/>
            <a:r>
              <a:rPr/>
              <a:t>Explore architecture options</a:t>
            </a:r>
          </a:p>
          <a:p>
            <a:pPr lvl="0" indent="0" marL="0">
              <a:buNone/>
            </a:pPr>
          </a:p>
          <a:p>
            <a:pPr lvl="1"/>
            <a:r>
              <a:rPr/>
              <a:t>Create detailed implementation plan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 b="1"/>
              <a:t>Background agent:</a:t>
            </a:r>
            <a:r>
              <a:rPr/>
              <a:t> Autonomous implementation</a:t>
            </a:r>
          </a:p>
          <a:p>
            <a:pPr lvl="0" indent="0" marL="0">
              <a:buNone/>
            </a:pPr>
          </a:p>
          <a:p>
            <a:pPr lvl="1"/>
            <a:r>
              <a:rPr/>
              <a:t>Create multiple proof-of-concept variants</a:t>
            </a:r>
          </a:p>
          <a:p>
            <a:pPr lvl="0" indent="0" marL="0">
              <a:buNone/>
            </a:pPr>
          </a:p>
          <a:p>
            <a:pPr lvl="1"/>
            <a:r>
              <a:rPr/>
              <a:t>Test different approaches</a:t>
            </a:r>
          </a:p>
          <a:p>
            <a:pPr lvl="0" indent="0" marL="0">
              <a:buNone/>
            </a:pPr>
          </a:p>
          <a:p>
            <a:pPr lvl="1"/>
            <a:r>
              <a:rPr/>
              <a:t>Implement core functionality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 b="1"/>
              <a:t>Cloud agent:</a:t>
            </a:r>
            <a:r>
              <a:rPr/>
              <a:t> Team collaboration</a:t>
            </a:r>
          </a:p>
          <a:p>
            <a:pPr lvl="0" indent="0" marL="0">
              <a:buNone/>
            </a:pPr>
          </a:p>
          <a:p>
            <a:pPr lvl="1"/>
            <a:r>
              <a:rPr/>
              <a:t>Create production-ready implementation</a:t>
            </a:r>
          </a:p>
          <a:p>
            <a:pPr lvl="0" indent="0" marL="0">
              <a:buNone/>
            </a:pPr>
          </a:p>
          <a:p>
            <a:pPr lvl="1"/>
            <a:r>
              <a:rPr/>
              <a:t>Submit pull request</a:t>
            </a:r>
          </a:p>
          <a:p>
            <a:pPr lvl="0" indent="0" marL="0">
              <a:buNone/>
            </a:pPr>
          </a:p>
          <a:p>
            <a:pPr lvl="1"/>
            <a:r>
              <a:rPr/>
              <a:t>Enable team review and feedback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Hand-off mechanics:</a:t>
            </a:r>
          </a:p>
          <a:p>
            <a:pPr lvl="0" indent="0" marL="0">
              <a:buNone/>
            </a:pPr>
          </a:p>
          <a:p>
            <a:pPr lvl="0"/>
            <a:r>
              <a:rPr/>
              <a:t>Full conversation history carries over</a:t>
            </a:r>
          </a:p>
          <a:p>
            <a:pPr lvl="0" indent="0" marL="0">
              <a:buNone/>
            </a:pPr>
          </a:p>
          <a:p>
            <a:pPr lvl="0"/>
            <a:r>
              <a:rPr/>
              <a:t>Context preserved across agents</a:t>
            </a:r>
          </a:p>
          <a:p>
            <a:pPr lvl="0" indent="0" marL="0">
              <a:buNone/>
            </a:pPr>
          </a:p>
          <a:p>
            <a:pPr lvl="0"/>
            <a:r>
              <a:rPr/>
              <a:t>Original session archived automatically</a:t>
            </a:r>
          </a:p>
          <a:p>
            <a:pPr lvl="0" indent="0" marL="0">
              <a:buNone/>
            </a:pPr>
          </a:p>
          <a:p>
            <a:pPr lvl="0"/>
            <a:r>
              <a:rPr/>
              <a:t>New session inherits all context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Strategic benefits:</a:t>
            </a:r>
          </a:p>
          <a:p>
            <a:pPr lvl="0" indent="0" marL="0">
              <a:buNone/>
            </a:pPr>
          </a:p>
          <a:p>
            <a:pPr lvl="0"/>
            <a:r>
              <a:rPr/>
              <a:t>Play to each agent type’s strengths</a:t>
            </a:r>
          </a:p>
          <a:p>
            <a:pPr lvl="0" indent="0" marL="0">
              <a:buNone/>
            </a:pPr>
          </a:p>
          <a:p>
            <a:pPr lvl="0"/>
            <a:r>
              <a:rPr/>
              <a:t>Maintain development velocity</a:t>
            </a:r>
          </a:p>
          <a:p>
            <a:pPr lvl="0" indent="0" marL="0">
              <a:buNone/>
            </a:pPr>
          </a:p>
          <a:p>
            <a:pPr lvl="0"/>
            <a:r>
              <a:rPr/>
              <a:t>Include team collaboration when needed</a:t>
            </a:r>
          </a:p>
          <a:p>
            <a:pPr lvl="0" indent="0" marL="0">
              <a:buNone/>
            </a:pPr>
          </a:p>
          <a:p>
            <a:pPr lvl="0"/>
            <a:r>
              <a:rPr/>
              <a:t>Scale complexity appropriately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Timing:</a:t>
            </a:r>
            <a:r>
              <a:rPr/>
              <a:t> 4-5 minutes </a:t>
            </a:r>
            <a:r>
              <a:rPr b="1"/>
              <a:t>Transition:</a:t>
            </a:r>
            <a:r>
              <a:rPr/>
              <a:t> “Let’s wrap up with key takeaways and next steps…”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closing slide provides clear next steps and resources for continued learning.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Immediate action items: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/>
              <a:t>Check VS Code settings to enable agents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/>
              <a:t>Try creating a simple local agent session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/>
              <a:t>Experiment with a real coding task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/>
              <a:t>Explore the sessions management interface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Learning path recommendations:</a:t>
            </a:r>
          </a:p>
          <a:p>
            <a:pPr lvl="0" indent="0" marL="0">
              <a:buNone/>
            </a:pPr>
          </a:p>
          <a:p>
            <a:pPr lvl="0"/>
            <a:r>
              <a:rPr/>
              <a:t>Start with local agents to understand the interface</a:t>
            </a:r>
          </a:p>
          <a:p>
            <a:pPr lvl="0" indent="0" marL="0">
              <a:buNone/>
            </a:pPr>
          </a:p>
          <a:p>
            <a:pPr lvl="0"/>
            <a:r>
              <a:rPr/>
              <a:t>Progress to background agents for autonomous work</a:t>
            </a:r>
          </a:p>
          <a:p>
            <a:pPr lvl="0" indent="0" marL="0">
              <a:buNone/>
            </a:pPr>
          </a:p>
          <a:p>
            <a:pPr lvl="0"/>
            <a:r>
              <a:rPr/>
              <a:t>Implement cloud agents for team workflows</a:t>
            </a:r>
          </a:p>
          <a:p>
            <a:pPr lvl="0" indent="0" marL="0">
              <a:buNone/>
            </a:pPr>
          </a:p>
          <a:p>
            <a:pPr lvl="0"/>
            <a:r>
              <a:rPr/>
              <a:t>Create custom agents for specialized tasks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Common setup issues:</a:t>
            </a:r>
          </a:p>
          <a:p>
            <a:pPr lvl="0" indent="0" marL="0">
              <a:buNone/>
            </a:pPr>
          </a:p>
          <a:p>
            <a:pPr lvl="0"/>
            <a:r>
              <a:rPr/>
              <a:t>Organization policies may disable agents</a:t>
            </a:r>
          </a:p>
          <a:p>
            <a:pPr lvl="0" indent="0" marL="0">
              <a:buNone/>
            </a:pPr>
          </a:p>
          <a:p>
            <a:pPr lvl="0"/>
            <a:r>
              <a:rPr/>
              <a:t>Need to contact admin if functionality unavailable</a:t>
            </a:r>
          </a:p>
          <a:p>
            <a:pPr lvl="0" indent="0" marL="0">
              <a:buNone/>
            </a:pPr>
          </a:p>
          <a:p>
            <a:pPr lvl="0"/>
            <a:r>
              <a:rPr/>
              <a:t>Ensure GitHub Copilot subscription is active</a:t>
            </a:r>
          </a:p>
          <a:p>
            <a:pPr lvl="0" indent="0" marL="0">
              <a:buNone/>
            </a:pPr>
          </a:p>
          <a:p>
            <a:pPr lvl="0"/>
            <a:r>
              <a:rPr/>
              <a:t>Check extension requirements for full functionality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Engagement closing:</a:t>
            </a:r>
          </a:p>
          <a:p>
            <a:pPr lvl="0" indent="0" marL="0">
              <a:buNone/>
            </a:pPr>
          </a:p>
          <a:p>
            <a:pPr lvl="0"/>
            <a:r>
              <a:rPr/>
              <a:t>Ask audience about their biggest coding time-wasters</a:t>
            </a:r>
          </a:p>
          <a:p>
            <a:pPr lvl="0" indent="0" marL="0">
              <a:buNone/>
            </a:pPr>
          </a:p>
          <a:p>
            <a:pPr lvl="0"/>
            <a:r>
              <a:rPr/>
              <a:t>Suggest which agent type might help most</a:t>
            </a:r>
          </a:p>
          <a:p>
            <a:pPr lvl="0" indent="0" marL="0">
              <a:buNone/>
            </a:pPr>
          </a:p>
          <a:p>
            <a:pPr lvl="0"/>
            <a:r>
              <a:rPr/>
              <a:t>Encourage experimentation and gradual adoption</a:t>
            </a:r>
          </a:p>
          <a:p>
            <a:pPr lvl="0" indent="0" marL="0">
              <a:buNone/>
            </a:pPr>
          </a:p>
          <a:p>
            <a:pPr lvl="0"/>
            <a:r>
              <a:rPr/>
              <a:t>Offer to answer questions about specific use cases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Follow-up suggestions:</a:t>
            </a:r>
          </a:p>
          <a:p>
            <a:pPr lvl="0" indent="0" marL="0">
              <a:buNone/>
            </a:pPr>
          </a:p>
          <a:p>
            <a:pPr lvl="0"/>
            <a:r>
              <a:rPr/>
              <a:t>Share documentation links via chat/email</a:t>
            </a:r>
          </a:p>
          <a:p>
            <a:pPr lvl="0" indent="0" marL="0">
              <a:buNone/>
            </a:pPr>
          </a:p>
          <a:p>
            <a:pPr lvl="0"/>
            <a:r>
              <a:rPr/>
              <a:t>Schedule follow-up sessions for advanced topics</a:t>
            </a:r>
          </a:p>
          <a:p>
            <a:pPr lvl="0" indent="0" marL="0">
              <a:buNone/>
            </a:pPr>
          </a:p>
          <a:p>
            <a:pPr lvl="0"/>
            <a:r>
              <a:rPr/>
              <a:t>Create team guidelines for agent usage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Timing:</a:t>
            </a:r>
            <a:r>
              <a:rPr/>
              <a:t> 3-4 minutes for takeaways, 5-10 minutes for Q&amp;A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Q&amp;A Session Management: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Anticipated questions and responses: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 b="1"/>
              <a:t>“How do agents compare to traditional Copilot?”</a:t>
            </a:r>
          </a:p>
          <a:p>
            <a:pPr lvl="0" indent="0" marL="0">
              <a:buNone/>
            </a:pPr>
          </a:p>
          <a:p>
            <a:pPr lvl="1"/>
            <a:r>
              <a:rPr/>
              <a:t>Traditional Copilot: Suggestions and completions</a:t>
            </a:r>
          </a:p>
          <a:p>
            <a:pPr lvl="0" indent="0" marL="0">
              <a:buNone/>
            </a:pPr>
          </a:p>
          <a:p>
            <a:pPr lvl="1"/>
            <a:r>
              <a:rPr/>
              <a:t>Agents: Complete task execution and multi-step workflows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 b="1"/>
              <a:t>“What about data privacy and security?”</a:t>
            </a:r>
          </a:p>
          <a:p>
            <a:pPr lvl="0" indent="0" marL="0">
              <a:buNone/>
            </a:pPr>
          </a:p>
          <a:p>
            <a:pPr lvl="1"/>
            <a:r>
              <a:rPr/>
              <a:t>Local agents: Data stays on your machine</a:t>
            </a:r>
          </a:p>
          <a:p>
            <a:pPr lvl="0" indent="0" marL="0">
              <a:buNone/>
            </a:pPr>
          </a:p>
          <a:p>
            <a:pPr lvl="1"/>
            <a:r>
              <a:rPr/>
              <a:t>Cloud agents: Follow GitHub’s privacy policies</a:t>
            </a:r>
          </a:p>
          <a:p>
            <a:pPr lvl="0" indent="0" marL="0">
              <a:buNone/>
            </a:pPr>
          </a:p>
          <a:p>
            <a:pPr lvl="1"/>
            <a:r>
              <a:rPr/>
              <a:t>Enterprise controls available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 b="1"/>
              <a:t>“Can agents make mistakes?”</a:t>
            </a:r>
          </a:p>
          <a:p>
            <a:pPr lvl="0" indent="0" marL="0">
              <a:buNone/>
            </a:pPr>
          </a:p>
          <a:p>
            <a:pPr lvl="1"/>
            <a:r>
              <a:rPr/>
              <a:t>Yes, always review agent changes</a:t>
            </a:r>
          </a:p>
          <a:p>
            <a:pPr lvl="0" indent="0" marL="0">
              <a:buNone/>
            </a:pPr>
          </a:p>
          <a:p>
            <a:pPr lvl="1"/>
            <a:r>
              <a:rPr/>
              <a:t>Use diff editors before applying</a:t>
            </a:r>
          </a:p>
          <a:p>
            <a:pPr lvl="0" indent="0" marL="0">
              <a:buNone/>
            </a:pPr>
          </a:p>
          <a:p>
            <a:pPr lvl="1"/>
            <a:r>
              <a:rPr/>
              <a:t>Start with non-critical tasks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 b="1"/>
              <a:t>“How do I know which agent type to use?”</a:t>
            </a:r>
          </a:p>
          <a:p>
            <a:pPr lvl="0" indent="0" marL="0">
              <a:buNone/>
            </a:pPr>
          </a:p>
          <a:p>
            <a:pPr lvl="1"/>
            <a:r>
              <a:rPr/>
              <a:t>Refer back to the decision matrix slide</a:t>
            </a:r>
          </a:p>
          <a:p>
            <a:pPr lvl="0" indent="0" marL="0">
              <a:buNone/>
            </a:pPr>
          </a:p>
          <a:p>
            <a:pPr lvl="1"/>
            <a:r>
              <a:rPr/>
              <a:t>Interactive vs autonomous needs</a:t>
            </a:r>
          </a:p>
          <a:p>
            <a:pPr lvl="0" indent="0" marL="0">
              <a:buNone/>
            </a:pPr>
          </a:p>
          <a:p>
            <a:pPr lvl="1"/>
            <a:r>
              <a:rPr/>
              <a:t>Team collaboration requirements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 b="1"/>
              <a:t>“What if my organization disabled agents?”</a:t>
            </a:r>
          </a:p>
          <a:p>
            <a:pPr lvl="0" indent="0" marL="0">
              <a:buNone/>
            </a:pPr>
          </a:p>
          <a:p>
            <a:pPr lvl="1"/>
            <a:r>
              <a:rPr/>
              <a:t>Contact your admin</a:t>
            </a:r>
          </a:p>
          <a:p>
            <a:pPr lvl="0" indent="0" marL="0">
              <a:buNone/>
            </a:pPr>
          </a:p>
          <a:p>
            <a:pPr lvl="1"/>
            <a:r>
              <a:rPr/>
              <a:t>May be policy-based restriction</a:t>
            </a:r>
          </a:p>
          <a:p>
            <a:pPr lvl="0" indent="0" marL="0">
              <a:buNone/>
            </a:pPr>
          </a:p>
          <a:p>
            <a:pPr lvl="1"/>
            <a:r>
              <a:rPr/>
              <a:t>Can often be enabled with proper governance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Session wrap-up:</a:t>
            </a:r>
          </a:p>
          <a:p>
            <a:pPr lvl="0" indent="0" marL="0">
              <a:buNone/>
            </a:pPr>
          </a:p>
          <a:p>
            <a:pPr lvl="0"/>
            <a:r>
              <a:rPr/>
              <a:t>Collect contact information for follow-up questions</a:t>
            </a:r>
          </a:p>
          <a:p>
            <a:pPr lvl="0" indent="0" marL="0">
              <a:buNone/>
            </a:pPr>
          </a:p>
          <a:p>
            <a:pPr lvl="0"/>
            <a:r>
              <a:rPr/>
              <a:t>Share additional resources</a:t>
            </a:r>
          </a:p>
          <a:p>
            <a:pPr lvl="0" indent="0" marL="0">
              <a:buNone/>
            </a:pPr>
          </a:p>
          <a:p>
            <a:pPr lvl="0"/>
            <a:r>
              <a:rPr/>
              <a:t>Suggest pilot projects for interested teams</a:t>
            </a:r>
          </a:p>
          <a:p>
            <a:pPr lvl="0" indent="0" marL="0">
              <a:buNone/>
            </a:pPr>
          </a:p>
          <a:p>
            <a:pPr lvl="0"/>
            <a:r>
              <a:rPr/>
              <a:t>Schedule follow-up sessions if requested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Time management:</a:t>
            </a:r>
            <a:r>
              <a:rPr/>
              <a:t> Allow 10-15 minutes for Q&amp;A depending on audience size and engagement.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Relationship Id="rId3" Type="http://schemas.openxmlformats.org/officeDocument/2006/relationships/hyperlink" Target="https://code.visualstudio.com/docs/copilot/agents/agents-tutorial" TargetMode="External" /><Relationship Id="rId4" Type="http://schemas.openxmlformats.org/officeDocument/2006/relationships/hyperlink" Target="https://code.visualstudio.com/docs/copilot/customization/custom-agents" TargetMode="External" /><Relationship Id="rId5" Type="http://schemas.openxmlformats.org/officeDocument/2006/relationships/hyperlink" Target="https://code.visualstudio.com/docs/copilot/agents/background-agents" TargetMode="Externa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VS Code Copilot Agents Overview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Autonomous AI-Powered Coding Assistance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Are Agents?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Agents handle complete coding tasks end-to-end, not just suggestions</a:t>
            </a:r>
          </a:p>
          <a:p>
            <a:pPr lvl="0"/>
            <a:r>
              <a:rPr/>
              <a:t>🔍 </a:t>
            </a:r>
            <a:r>
              <a:rPr b="1"/>
              <a:t>Understand</a:t>
            </a:r>
            <a:r>
              <a:rPr/>
              <a:t> your project context</a:t>
            </a:r>
          </a:p>
          <a:p>
            <a:pPr lvl="0"/>
            <a:r>
              <a:rPr/>
              <a:t>✏️ </a:t>
            </a:r>
            <a:r>
              <a:rPr b="1"/>
              <a:t>Make changes</a:t>
            </a:r>
            <a:r>
              <a:rPr/>
              <a:t> across multiple files</a:t>
            </a:r>
          </a:p>
          <a:p>
            <a:pPr lvl="0"/>
            <a:r>
              <a:rPr/>
              <a:t>⚡ </a:t>
            </a:r>
            <a:r>
              <a:rPr b="1"/>
              <a:t>Execute commands</a:t>
            </a:r>
            <a:r>
              <a:rPr/>
              <a:t> and run tests</a:t>
            </a:r>
          </a:p>
          <a:p>
            <a:pPr lvl="0"/>
            <a:r>
              <a:rPr/>
              <a:t>🔄 </a:t>
            </a:r>
            <a:r>
              <a:rPr b="1"/>
              <a:t>Adapt</a:t>
            </a:r>
            <a:r>
              <a:rPr/>
              <a:t> based on results and feedback</a:t>
            </a:r>
          </a:p>
          <a:p>
            <a:pPr lvl="0"/>
            <a:r>
              <a:rPr/>
              <a:t>🎯 </a:t>
            </a:r>
            <a:r>
              <a:rPr b="1"/>
              <a:t>Self-correct</a:t>
            </a:r>
            <a:r>
              <a:rPr/>
              <a:t> when errors occur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Four Types of Agents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882900"/>
                <a:gridCol w="1511300"/>
                <a:gridCol w="1778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Environment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Collaboration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Local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Your machine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Interactive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Background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Your machine (CLI)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Autonomous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Cloud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Remote infrastructure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Autonomous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 (PRs)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Third-party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Local or Cloud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Varies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Depends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Local Agents: Interactive &amp; Immediate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Best for:</a:t>
            </a:r>
            <a:r>
              <a:rPr/>
              <a:t> Real-time collaboration and exploratory tasks</a:t>
            </a:r>
          </a:p>
          <a:p>
            <a:pPr lvl="0" indent="0" marL="0">
              <a:buNone/>
            </a:pPr>
            <a:r>
              <a:rPr/>
              <a:t>✅ </a:t>
            </a:r>
            <a:r>
              <a:rPr b="1"/>
              <a:t>Strengths:</a:t>
            </a:r>
          </a:p>
          <a:p>
            <a:pPr lvl="0"/>
            <a:r>
              <a:rPr/>
              <a:t>Interactive chat interface</a:t>
            </a:r>
          </a:p>
          <a:p>
            <a:pPr lvl="0"/>
            <a:r>
              <a:rPr/>
              <a:t>Full workspace access</a:t>
            </a:r>
          </a:p>
          <a:p>
            <a:pPr lvl="0"/>
            <a:r>
              <a:rPr/>
              <a:t>All VS Code tools and extensions</a:t>
            </a:r>
          </a:p>
          <a:p>
            <a:pPr lvl="0"/>
            <a:r>
              <a:rPr/>
              <a:t>Custom agent personas (reviewer, tester, etc.)</a:t>
            </a:r>
          </a:p>
          <a:p>
            <a:pPr lvl="0"/>
            <a:r>
              <a:rPr/>
              <a:t>BYOK model support</a:t>
            </a:r>
          </a:p>
          <a:p>
            <a:pPr lvl="0" indent="0" marL="0">
              <a:buNone/>
            </a:pPr>
            <a:r>
              <a:rPr/>
              <a:t>❌ </a:t>
            </a:r>
            <a:r>
              <a:rPr b="1"/>
              <a:t>Limitations:</a:t>
            </a:r>
          </a:p>
          <a:p>
            <a:pPr lvl="0"/>
            <a:r>
              <a:rPr/>
              <a:t>No team collaboration</a:t>
            </a:r>
          </a:p>
          <a:p>
            <a:pPr lvl="0"/>
            <a:r>
              <a:rPr/>
              <a:t>Direct workspace modification</a:t>
            </a:r>
          </a:p>
          <a:p>
            <a:pPr lvl="0"/>
            <a:r>
              <a:rPr/>
              <a:t>Requires active interaction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Background Agents: Autonomous Execution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Best for:</a:t>
            </a:r>
            <a:r>
              <a:rPr/>
              <a:t> Well-defined tasks without interruption</a:t>
            </a:r>
          </a:p>
          <a:p>
            <a:pPr lvl="0" indent="0" marL="0">
              <a:buNone/>
            </a:pPr>
            <a:r>
              <a:rPr/>
              <a:t>✅ </a:t>
            </a:r>
            <a:r>
              <a:rPr b="1"/>
              <a:t>Strengths:</a:t>
            </a:r>
          </a:p>
          <a:p>
            <a:pPr lvl="0"/>
            <a:r>
              <a:rPr/>
              <a:t>Non-interactive autonomous operation</a:t>
            </a:r>
          </a:p>
          <a:p>
            <a:pPr lvl="0"/>
            <a:r>
              <a:rPr/>
              <a:t>Git worktree isolation</a:t>
            </a:r>
          </a:p>
          <a:p>
            <a:pPr lvl="0"/>
            <a:r>
              <a:rPr/>
              <a:t>No workspace conflicts</a:t>
            </a:r>
          </a:p>
          <a:p>
            <a:pPr lvl="0"/>
            <a:r>
              <a:rPr/>
              <a:t>Custom agent personas</a:t>
            </a:r>
          </a:p>
          <a:p>
            <a:pPr lvl="0" indent="0" marL="0">
              <a:buNone/>
            </a:pPr>
            <a:r>
              <a:rPr/>
              <a:t>❌ </a:t>
            </a:r>
            <a:r>
              <a:rPr b="1"/>
              <a:t>Limitations:</a:t>
            </a:r>
          </a:p>
          <a:p>
            <a:pPr lvl="0"/>
            <a:r>
              <a:rPr/>
              <a:t>No real-time VS Code context</a:t>
            </a:r>
          </a:p>
          <a:p>
            <a:pPr lvl="0"/>
            <a:r>
              <a:rPr/>
              <a:t>Limited to CLI-provided models</a:t>
            </a:r>
          </a:p>
          <a:p>
            <a:pPr lvl="0"/>
            <a:r>
              <a:rPr/>
              <a:t>No MCP or extension tools</a:t>
            </a:r>
          </a:p>
          <a:p>
            <a:pPr lvl="0"/>
            <a:r>
              <a:rPr/>
              <a:t>No team collaboration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Cloud Agents: Team Collaboration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Best for:</a:t>
            </a:r>
            <a:r>
              <a:rPr/>
              <a:t> Team workflows and pull request integration</a:t>
            </a:r>
          </a:p>
          <a:p>
            <a:pPr lvl="0" indent="0" marL="0">
              <a:buNone/>
            </a:pPr>
            <a:r>
              <a:rPr/>
              <a:t>✅ </a:t>
            </a:r>
            <a:r>
              <a:rPr b="1"/>
              <a:t>Strengths:</a:t>
            </a:r>
          </a:p>
          <a:p>
            <a:pPr lvl="0"/>
            <a:r>
              <a:rPr/>
              <a:t>GitHub integration</a:t>
            </a:r>
          </a:p>
          <a:p>
            <a:pPr lvl="0"/>
            <a:r>
              <a:rPr/>
              <a:t>Pull request collaboration</a:t>
            </a:r>
          </a:p>
          <a:p>
            <a:pPr lvl="0"/>
            <a:r>
              <a:rPr/>
              <a:t>Remote infrastructure scaling</a:t>
            </a:r>
          </a:p>
          <a:p>
            <a:pPr lvl="0"/>
            <a:r>
              <a:rPr/>
              <a:t>Partner agent options (Claude, Codex)</a:t>
            </a:r>
          </a:p>
          <a:p>
            <a:pPr lvl="0"/>
            <a:r>
              <a:rPr/>
              <a:t>MCP server access in cloud</a:t>
            </a:r>
          </a:p>
          <a:p>
            <a:pPr lvl="0" indent="0" marL="0">
              <a:buNone/>
            </a:pPr>
            <a:r>
              <a:rPr/>
              <a:t>❌ </a:t>
            </a:r>
            <a:r>
              <a:rPr b="1"/>
              <a:t>Limitations:</a:t>
            </a:r>
          </a:p>
          <a:p>
            <a:pPr lvl="0"/>
            <a:r>
              <a:rPr/>
              <a:t>No VS Code built-in tools</a:t>
            </a:r>
          </a:p>
          <a:p>
            <a:pPr lvl="0"/>
            <a:r>
              <a:rPr/>
              <a:t>No local runtime context</a:t>
            </a:r>
          </a:p>
          <a:p>
            <a:pPr lvl="0"/>
            <a:r>
              <a:rPr/>
              <a:t>Asynchronous only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Agent Sessions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Unified Chat View for all agent types</a:t>
            </a:r>
          </a:p>
          <a:p>
            <a:pPr lvl="0"/>
            <a:r>
              <a:rPr/>
              <a:t>📊 </a:t>
            </a:r>
            <a:r>
              <a:rPr b="1"/>
              <a:t>Sessions List:</a:t>
            </a:r>
            <a:r>
              <a:rPr/>
              <a:t> Recent activity, status, file changes</a:t>
            </a:r>
          </a:p>
          <a:p>
            <a:pPr lvl="0"/>
            <a:r>
              <a:rPr/>
              <a:t>🔄 </a:t>
            </a:r>
            <a:r>
              <a:rPr b="1"/>
              <a:t>Hand-off Support:</a:t>
            </a:r>
            <a:r>
              <a:rPr/>
              <a:t> Delegate between agent types</a:t>
            </a:r>
          </a:p>
          <a:p>
            <a:pPr lvl="0"/>
            <a:r>
              <a:rPr/>
              <a:t>📂 </a:t>
            </a:r>
            <a:r>
              <a:rPr b="1"/>
              <a:t>Organized View:</a:t>
            </a:r>
            <a:r>
              <a:rPr/>
              <a:t> Compact or side-by-side modes</a:t>
            </a:r>
          </a:p>
          <a:p>
            <a:pPr lvl="0"/>
            <a:r>
              <a:rPr/>
              <a:t>🎯 </a:t>
            </a:r>
            <a:r>
              <a:rPr b="1"/>
              <a:t>Status Indicators:</a:t>
            </a:r>
            <a:r>
              <a:rPr/>
              <a:t> Unread messages, in-progress work</a:t>
            </a:r>
          </a:p>
          <a:p>
            <a:pPr lvl="0"/>
            <a:r>
              <a:rPr/>
              <a:t>🗂️ </a:t>
            </a:r>
            <a:r>
              <a:rPr b="1"/>
              <a:t>Archive/Delete:</a:t>
            </a:r>
            <a:r>
              <a:rPr/>
              <a:t> Keep workspace organized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Creating Agent Sessions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Multiple ways to start working with agents</a:t>
            </a:r>
          </a:p>
          <a:p>
            <a:pPr lvl="0" indent="-342900" marL="342900">
              <a:buAutoNum type="arabicPeriod"/>
            </a:pPr>
            <a:r>
              <a:rPr b="1"/>
              <a:t>New Session Dropdown</a:t>
            </a:r>
            <a:r>
              <a:rPr/>
              <a:t> in Chat view</a:t>
            </a:r>
          </a:p>
          <a:p>
            <a:pPr lvl="0" indent="-342900" marL="342900">
              <a:buAutoNum type="arabicPeriod"/>
            </a:pPr>
            <a:r>
              <a:rPr b="1"/>
              <a:t>Command Palette</a:t>
            </a:r>
            <a:r>
              <a:rPr/>
              <a:t> commands (Ctrl+Shift+P)</a:t>
            </a:r>
          </a:p>
          <a:p>
            <a:pPr lvl="0" indent="-342900" marL="342900">
              <a:buAutoNum type="arabicPeriod"/>
            </a:pPr>
            <a:r>
              <a:rPr b="1"/>
              <a:t>Welcome Page</a:t>
            </a:r>
            <a:r>
              <a:rPr/>
              <a:t> quick access</a:t>
            </a:r>
          </a:p>
          <a:p>
            <a:pPr lvl="0" indent="-342900" marL="342900">
              <a:buAutoNum type="arabicPeriod"/>
            </a:pPr>
            <a:r>
              <a:rPr b="1"/>
              <a:t>Direct Assignment</a:t>
            </a:r>
            <a:r>
              <a:rPr/>
              <a:t> from TODO comments</a:t>
            </a:r>
          </a:p>
          <a:p>
            <a:pPr lvl="0" indent="-342900" marL="342900">
              <a:buAutoNum type="arabicPeriod"/>
            </a:pPr>
            <a:r>
              <a:rPr b="1"/>
              <a:t>GitHub Integration</a:t>
            </a:r>
            <a:r>
              <a:rPr/>
              <a:t> via issues and mentions</a:t>
            </a:r>
          </a:p>
          <a:p>
            <a:pPr lvl="0" indent="0" marL="0">
              <a:buNone/>
            </a:pPr>
            <a:r>
              <a:rPr b="1"/>
              <a:t>Pro Tip:</a:t>
            </a:r>
            <a:r>
              <a:rPr/>
              <a:t> Multiple sessions can run in parallel! 🚀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Review and Apply Changes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Track and validate agent work</a:t>
            </a:r>
          </a:p>
          <a:p>
            <a:pPr lvl="0"/>
            <a:r>
              <a:rPr/>
              <a:t>📈 </a:t>
            </a:r>
            <a:r>
              <a:rPr b="1"/>
              <a:t>File Change Statistics</a:t>
            </a:r>
            <a:r>
              <a:rPr/>
              <a:t> in session details</a:t>
            </a:r>
          </a:p>
          <a:p>
            <a:pPr lvl="0"/>
            <a:r>
              <a:rPr/>
              <a:t>🔍 </a:t>
            </a:r>
            <a:r>
              <a:rPr b="1"/>
              <a:t>Diff Editor</a:t>
            </a:r>
            <a:r>
              <a:rPr/>
              <a:t> for individual files</a:t>
            </a:r>
          </a:p>
          <a:p>
            <a:pPr lvl="0"/>
            <a:r>
              <a:rPr/>
              <a:t>👀 </a:t>
            </a:r>
            <a:r>
              <a:rPr b="1"/>
              <a:t>Multi-file Diff</a:t>
            </a:r>
            <a:r>
              <a:rPr/>
              <a:t> for complete review</a:t>
            </a:r>
          </a:p>
          <a:p>
            <a:pPr lvl="0"/>
            <a:r>
              <a:rPr/>
              <a:t>✅ </a:t>
            </a:r>
            <a:r>
              <a:rPr b="1"/>
              <a:t>Apply to Workspace</a:t>
            </a:r>
            <a:r>
              <a:rPr/>
              <a:t> options</a:t>
            </a:r>
          </a:p>
          <a:p>
            <a:pPr lvl="0"/>
            <a:r>
              <a:rPr/>
              <a:t>🌿 </a:t>
            </a:r>
            <a:r>
              <a:rPr b="1"/>
              <a:t>Branch Checkout</a:t>
            </a:r>
            <a:r>
              <a:rPr/>
              <a:t> for cloud agents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Hand-off Workflows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Leverage each agent type’s strengths</a:t>
            </a:r>
          </a:p>
          <a:p>
            <a:pPr lvl="0" indent="0">
              <a:buNone/>
            </a:pPr>
            <a:r>
              <a:rPr>
                <a:latin typeface="Courier"/>
              </a:rPr>
              <a:t>📋 Local Agent (Planning)
    ⬇ Hand-off
🤖 Background Agent (Implementation)
    ⬇ Delegate
☁️ Cloud Agent (Team Review)</a:t>
            </a:r>
          </a:p>
          <a:p>
            <a:pPr lvl="0" indent="0" marL="0">
              <a:buNone/>
            </a:pPr>
            <a:r>
              <a:rPr b="1"/>
              <a:t>Example:</a:t>
            </a:r>
            <a:r>
              <a:rPr/>
              <a:t> Planning → Proof of Concept → Production Implementation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Takeaways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🚀 Getting Started:</a:t>
            </a:r>
          </a:p>
          <a:p>
            <a:pPr lvl="0"/>
            <a:r>
              <a:rPr/>
              <a:t>Enable agents in VS Code settings (</a:t>
            </a:r>
            <a:r>
              <a:rPr>
                <a:latin typeface="Courier"/>
              </a:rPr>
              <a:t>chat.agent.enabled</a:t>
            </a:r>
            <a:r>
              <a:rPr/>
              <a:t>)</a:t>
            </a:r>
          </a:p>
          <a:p>
            <a:pPr lvl="0"/>
            <a:r>
              <a:rPr/>
              <a:t>Start with local agents for exploration</a:t>
            </a:r>
          </a:p>
          <a:p>
            <a:pPr lvl="0"/>
            <a:r>
              <a:rPr/>
              <a:t>Try background agents for focused tasks</a:t>
            </a:r>
          </a:p>
          <a:p>
            <a:pPr lvl="0"/>
            <a:r>
              <a:rPr/>
              <a:t>Use cloud agents for team collaboration</a:t>
            </a:r>
          </a:p>
          <a:p>
            <a:pPr lvl="0" indent="0" marL="0">
              <a:buNone/>
            </a:pPr>
            <a:r>
              <a:rPr b="1"/>
              <a:t>📚 Resources:</a:t>
            </a:r>
          </a:p>
          <a:p>
            <a:pPr lvl="0"/>
            <a:r>
              <a:rPr>
                <a:hlinkClick r:id="rId3"/>
              </a:rPr>
              <a:t>Agents Tutorial</a:t>
            </a:r>
          </a:p>
          <a:p>
            <a:pPr lvl="0"/>
            <a:r>
              <a:rPr>
                <a:hlinkClick r:id="rId4"/>
              </a:rPr>
              <a:t>Custom Agents</a:t>
            </a:r>
          </a:p>
          <a:p>
            <a:pPr lvl="0"/>
            <a:r>
              <a:rPr>
                <a:hlinkClick r:id="rId5"/>
              </a:rPr>
              <a:t>Background Agents Guide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Questions &amp;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Thank you!</a:t>
            </a:r>
          </a:p>
          <a:p>
            <a:pPr lvl="0" indent="0" marL="0">
              <a:buNone/>
            </a:pPr>
            <a:r>
              <a:rPr/>
              <a:t>Want to explore specific agent workflows for your team?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2026-02-06T20:54:36Z</dcterms:created>
  <dcterms:modified xsi:type="dcterms:W3CDTF">2026-02-06T20:54:36Z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_generated">
    <vt:lpwstr>True</vt:lpwstr>
  </property>
  <property fmtid="{D5CDD505-2E9C-101B-9397-08002B2CF9AE}" pid="3" name="ai_log">
    <vt:lpwstr>ai-logs/2026/02/06/vscode-agents-slides-20260206/conversation.md</vt:lpwstr>
  </property>
  <property fmtid="{D5CDD505-2E9C-101B-9397-08002B2CF9AE}" pid="4" name="chat_id">
    <vt:lpwstr>vscode-agents-slides-20260206</vt:lpwstr>
  </property>
  <property fmtid="{D5CDD505-2E9C-101B-9397-08002B2CF9AE}" pid="5" name="ended">
    <vt:lpwstr>2026-02-06T18:45:00Z</vt:lpwstr>
  </property>
  <property fmtid="{D5CDD505-2E9C-101B-9397-08002B2CF9AE}" pid="6" name="model">
    <vt:lpwstr>anthropic/claude-3.5-sonnet@2024-10-22</vt:lpwstr>
  </property>
  <property fmtid="{D5CDD505-2E9C-101B-9397-08002B2CF9AE}" pid="7" name="operator">
    <vt:lpwstr>johnmillerATcodemag-com</vt:lpwstr>
  </property>
  <property fmtid="{D5CDD505-2E9C-101B-9397-08002B2CF9AE}" pid="8" name="prompt">
    <vt:lpwstr>create marp slides for the content on this page: https://code.visualstudio.com/docs/copilot/agents/overview</vt:lpwstr>
  </property>
  <property fmtid="{D5CDD505-2E9C-101B-9397-08002B2CF9AE}" pid="9" name="source">
    <vt:lpwstr>johnmillerATcodemag-com</vt:lpwstr>
  </property>
  <property fmtid="{D5CDD505-2E9C-101B-9397-08002B2CF9AE}" pid="10" name="started">
    <vt:lpwstr>2026-02-06T18:35:00Z</vt:lpwstr>
  </property>
  <property fmtid="{D5CDD505-2E9C-101B-9397-08002B2CF9AE}" pid="11" name="task_durations">
    <vt:lpwstr/>
  </property>
  <property fmtid="{D5CDD505-2E9C-101B-9397-08002B2CF9AE}" pid="12" name="total_duration">
    <vt:lpwstr>00:10:00</vt:lpwstr>
  </property>
</Properties>
</file>